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21"/>
  </p:notesMasterIdLst>
  <p:sldIdLst>
    <p:sldId id="274" r:id="rId5"/>
    <p:sldId id="257" r:id="rId6"/>
    <p:sldId id="258" r:id="rId7"/>
    <p:sldId id="259" r:id="rId8"/>
    <p:sldId id="260" r:id="rId9"/>
    <p:sldId id="261" r:id="rId10"/>
    <p:sldId id="266" r:id="rId11"/>
    <p:sldId id="267" r:id="rId12"/>
    <p:sldId id="269" r:id="rId13"/>
    <p:sldId id="268" r:id="rId14"/>
    <p:sldId id="265" r:id="rId15"/>
    <p:sldId id="270" r:id="rId16"/>
    <p:sldId id="272" r:id="rId17"/>
    <p:sldId id="263" r:id="rId18"/>
    <p:sldId id="273" r:id="rId19"/>
    <p:sldId id="264"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3" roundtripDataSignature="AMtx7mjQwuzUAOc1cB9nM4HePRx26O3k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3F3F"/>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051454-77B7-4B9C-ACD2-EF8B253B17FB}" v="14" dt="2026-03-05T07:48:42.429"/>
  </p1510:revLst>
</p1510:revInfo>
</file>

<file path=ppt/tableStyles.xml><?xml version="1.0" encoding="utf-8"?>
<a:tblStyleLst xmlns:a="http://schemas.openxmlformats.org/drawingml/2006/main" def="{C62EE5E8-430B-4DDC-A6C1-23BFF62ECF60}">
  <a:tblStyle styleId="{C62EE5E8-430B-4DDC-A6C1-23BFF62ECF6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AECE6"/>
          </a:solidFill>
        </a:fill>
      </a:tcStyle>
    </a:wholeTbl>
    <a:band1H>
      <a:tcTxStyle/>
      <a:tcStyle>
        <a:tcBdr/>
        <a:fill>
          <a:solidFill>
            <a:srgbClr val="F5D8CA"/>
          </a:solidFill>
        </a:fill>
      </a:tcStyle>
    </a:band1H>
    <a:band2H>
      <a:tcTxStyle/>
      <a:tcStyle>
        <a:tcBdr/>
      </a:tcStyle>
    </a:band2H>
    <a:band1V>
      <a:tcTxStyle/>
      <a:tcStyle>
        <a:tcBdr/>
        <a:fill>
          <a:solidFill>
            <a:srgbClr val="F5D8C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02" y="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customschemas.google.com/relationships/presentationmetadata" Target="metadata"/><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
        <p:cNvGrpSpPr/>
        <p:nvPr/>
      </p:nvGrpSpPr>
      <p:grpSpPr>
        <a:xfrm>
          <a:off x="0" y="0"/>
          <a:ext cx="0" cy="0"/>
          <a:chOff x="0" y="0"/>
          <a:chExt cx="0" cy="0"/>
        </a:xfrm>
      </p:grpSpPr>
      <p:sp>
        <p:nvSpPr>
          <p:cNvPr id="19" name="Google Shape;19;p1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2"/>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1" name="Google Shape;21;p12"/>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2" name="Google Shape;22;p1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24" name="Google Shape;24;p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8" name="Google Shape;28;p1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30" name="Google Shape;30;p1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1"/>
        <p:cNvGrpSpPr/>
        <p:nvPr/>
      </p:nvGrpSpPr>
      <p:grpSpPr>
        <a:xfrm>
          <a:off x="0" y="0"/>
          <a:ext cx="0" cy="0"/>
          <a:chOff x="0" y="0"/>
          <a:chExt cx="0" cy="0"/>
        </a:xfrm>
      </p:grpSpPr>
      <p:sp>
        <p:nvSpPr>
          <p:cNvPr id="32" name="Google Shape;32;p1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1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14"/>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4"/>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36" name="Google Shape;36;p1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38" name="Google Shape;38;p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39" name="Google Shape;39;p14"/>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40"/>
        <p:cNvGrpSpPr/>
        <p:nvPr/>
      </p:nvGrpSpPr>
      <p:grpSpPr>
        <a:xfrm>
          <a:off x="0" y="0"/>
          <a:ext cx="0" cy="0"/>
          <a:chOff x="0" y="0"/>
          <a:chExt cx="0" cy="0"/>
        </a:xfrm>
      </p:grpSpPr>
      <p:sp>
        <p:nvSpPr>
          <p:cNvPr id="41" name="Google Shape;41;p1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1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15"/>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5"/>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5" name="Google Shape;45;p1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47" name="Google Shape;47;p1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8" name="Google Shape;48;p15"/>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6"/>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2" name="Google Shape;52;p16"/>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3" name="Google Shape;53;p16"/>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4" name="Google Shape;54;p16"/>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5" name="Google Shape;55;p1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57" name="Google Shape;57;p1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62" name="Google Shape;62;p1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3"/>
        <p:cNvGrpSpPr/>
        <p:nvPr/>
      </p:nvGrpSpPr>
      <p:grpSpPr>
        <a:xfrm>
          <a:off x="0" y="0"/>
          <a:ext cx="0" cy="0"/>
          <a:chOff x="0" y="0"/>
          <a:chExt cx="0" cy="0"/>
        </a:xfrm>
      </p:grpSpPr>
      <p:sp>
        <p:nvSpPr>
          <p:cNvPr id="64" name="Google Shape;64;p18"/>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8"/>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68" name="Google Shape;68;p1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9"/>
        <p:cNvGrpSpPr/>
        <p:nvPr/>
      </p:nvGrpSpPr>
      <p:grpSpPr>
        <a:xfrm>
          <a:off x="0" y="0"/>
          <a:ext cx="0" cy="0"/>
          <a:chOff x="0" y="0"/>
          <a:chExt cx="0" cy="0"/>
        </a:xfrm>
      </p:grpSpPr>
      <p:sp>
        <p:nvSpPr>
          <p:cNvPr id="70" name="Google Shape;70;p19"/>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9"/>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9"/>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9"/>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4" name="Google Shape;74;p19"/>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5" name="Google Shape;75;p19"/>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77" name="Google Shape;77;p1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20"/>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0"/>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0"/>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20"/>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83" name="Google Shape;83;p20"/>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4" name="Google Shape;84;p2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86" name="Google Shape;86;p2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2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21"/>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0" name="Google Shape;90;p2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92" name="Google Shape;92;p2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2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2"/>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2"/>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8" name="Google Shape;98;p2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Mini Project (ISP67)</a:t>
            </a:r>
            <a:endParaRPr/>
          </a:p>
        </p:txBody>
      </p:sp>
      <p:sp>
        <p:nvSpPr>
          <p:cNvPr id="100" name="Google Shape;100;p2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1"/>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a:t>Mini Project (ISP67)</a:t>
            </a:r>
            <a:endParaRPr/>
          </a:p>
        </p:txBody>
      </p:sp>
      <p:sp>
        <p:nvSpPr>
          <p:cNvPr id="16" name="Google Shape;16;p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11"/>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
          <p:cNvSpPr txBox="1">
            <a:spLocks noGrp="1"/>
          </p:cNvSpPr>
          <p:nvPr>
            <p:ph type="title"/>
          </p:nvPr>
        </p:nvSpPr>
        <p:spPr>
          <a:xfrm>
            <a:off x="314685" y="1337150"/>
            <a:ext cx="11391282" cy="886691"/>
          </a:xfrm>
          <a:prstGeom prst="rect">
            <a:avLst/>
          </a:prstGeom>
          <a:ln>
            <a:solidFill>
              <a:schemeClr val="bg1"/>
            </a:solidFill>
            <a:headEnd type="none" w="sm" len="sm"/>
            <a:tailEnd type="none" w="sm" len="sm"/>
          </a:ln>
        </p:spPr>
        <p:style>
          <a:lnRef idx="2">
            <a:schemeClr val="dk1"/>
          </a:lnRef>
          <a:fillRef idx="1">
            <a:schemeClr val="lt1"/>
          </a:fillRef>
          <a:effectRef idx="0">
            <a:schemeClr val="dk1"/>
          </a:effectRef>
          <a:fontRef idx="minor">
            <a:schemeClr val="dk1"/>
          </a:fontRef>
        </p:style>
        <p:txBody>
          <a:bodyPr spcFirstLastPara="1" wrap="square" lIns="91425" tIns="45700" rIns="91425" bIns="45700" anchor="b" anchorCtr="0">
            <a:normAutofit fontScale="90000"/>
          </a:bodyPr>
          <a:lstStyle/>
          <a:p>
            <a:r>
              <a:rPr lang="en-US"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MSR</a:t>
            </a:r>
            <a:r>
              <a:rPr dirty="0">
                <a:latin typeface="Times New Roman" panose="02020603050405020304" pitchFamily="18" charset="0"/>
                <a:cs typeface="Times New Roman" panose="02020603050405020304" pitchFamily="18" charset="0"/>
              </a:rPr>
              <a:t> INSIGHT </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ACADEMIC PLATFORM</a:t>
            </a:r>
            <a:endParaRPr dirty="0">
              <a:latin typeface="Times New Roman" panose="02020603050405020304" pitchFamily="18" charset="0"/>
              <a:cs typeface="Times New Roman" panose="02020603050405020304" pitchFamily="18" charset="0"/>
            </a:endParaRPr>
          </a:p>
        </p:txBody>
      </p:sp>
      <p:sp>
        <p:nvSpPr>
          <p:cNvPr id="107" name="Google Shape;107;p1"/>
          <p:cNvSpPr txBox="1">
            <a:spLocks noGrp="1"/>
          </p:cNvSpPr>
          <p:nvPr>
            <p:ph type="body" idx="1"/>
          </p:nvPr>
        </p:nvSpPr>
        <p:spPr>
          <a:xfrm>
            <a:off x="1097279" y="3269672"/>
            <a:ext cx="5156037" cy="2599421"/>
          </a:xfrm>
          <a:prstGeom prst="rect">
            <a:avLst/>
          </a:prstGeom>
          <a:noFill/>
          <a:ln>
            <a:noFill/>
          </a:ln>
        </p:spPr>
        <p:txBody>
          <a:bodyPr spcFirstLastPara="1" wrap="square" lIns="0" tIns="45700" rIns="0" bIns="45700" anchor="t" anchorCtr="0">
            <a:normAutofit/>
          </a:bodyPr>
          <a:lstStyle/>
          <a:p>
            <a:r>
              <a:rPr dirty="0"/>
              <a:t>KARTHIK S POOJARY </a:t>
            </a:r>
            <a:r>
              <a:rPr lang="en-US" dirty="0"/>
              <a:t>		</a:t>
            </a:r>
            <a:r>
              <a:rPr dirty="0"/>
              <a:t>(1MS23IS051)</a:t>
            </a:r>
          </a:p>
          <a:p>
            <a:r>
              <a:rPr dirty="0"/>
              <a:t>AJAY KUMAR S </a:t>
            </a:r>
            <a:r>
              <a:rPr lang="en-US" dirty="0"/>
              <a:t>		</a:t>
            </a:r>
            <a:r>
              <a:rPr dirty="0"/>
              <a:t>(1MS24IS400)</a:t>
            </a:r>
          </a:p>
          <a:p>
            <a:r>
              <a:rPr dirty="0"/>
              <a:t>AKASH SHIVANAND NAVANI</a:t>
            </a:r>
            <a:r>
              <a:rPr lang="en-IN" dirty="0"/>
              <a:t> 	</a:t>
            </a:r>
            <a:r>
              <a:rPr dirty="0"/>
              <a:t>(1MS24IS402)</a:t>
            </a:r>
          </a:p>
          <a:p>
            <a:r>
              <a:rPr dirty="0"/>
              <a:t>AKSHAY KUMAR </a:t>
            </a:r>
            <a:r>
              <a:rPr lang="en-US" dirty="0"/>
              <a:t>		</a:t>
            </a:r>
            <a:r>
              <a:rPr dirty="0"/>
              <a:t>(1MS24IS403)</a:t>
            </a:r>
          </a:p>
          <a:p>
            <a:endParaRPr dirty="0"/>
          </a:p>
          <a:p>
            <a:endParaRPr dirty="0"/>
          </a:p>
        </p:txBody>
      </p:sp>
      <p:sp>
        <p:nvSpPr>
          <p:cNvPr id="108" name="Google Shape;108;p1"/>
          <p:cNvSpPr txBox="1">
            <a:spLocks noGrp="1"/>
          </p:cNvSpPr>
          <p:nvPr>
            <p:ph type="body" idx="2"/>
          </p:nvPr>
        </p:nvSpPr>
        <p:spPr>
          <a:xfrm>
            <a:off x="7518598" y="3013453"/>
            <a:ext cx="4269971" cy="2867714"/>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b="1" dirty="0">
                <a:latin typeface="Times New Roman" panose="02020603050405020304" pitchFamily="18" charset="0"/>
                <a:cs typeface="Times New Roman" panose="02020603050405020304" pitchFamily="18" charset="0"/>
              </a:rPr>
              <a:t>Guided By:</a:t>
            </a:r>
            <a:endParaRPr dirty="0">
              <a:latin typeface="Times New Roman" panose="02020603050405020304" pitchFamily="18" charset="0"/>
              <a:cs typeface="Times New Roman" panose="02020603050405020304" pitchFamily="18" charset="0"/>
            </a:endParaRPr>
          </a:p>
          <a:p>
            <a:pPr marL="91440" indent="-127000">
              <a:spcBef>
                <a:spcPts val="1400"/>
              </a:spcBef>
              <a:buSzPts val="2000"/>
            </a:pPr>
            <a:r>
              <a:rPr lang="en-IN" dirty="0"/>
              <a:t>PRATHIMA M. N.</a:t>
            </a:r>
          </a:p>
          <a:p>
            <a:pPr marL="91440" lvl="0" indent="0" algn="l" rtl="0">
              <a:lnSpc>
                <a:spcPct val="90000"/>
              </a:lnSpc>
              <a:spcBef>
                <a:spcPts val="1400"/>
              </a:spcBef>
              <a:spcAft>
                <a:spcPts val="0"/>
              </a:spcAft>
              <a:buSzPts val="2000"/>
              <a:buNone/>
            </a:pPr>
            <a:endParaRPr b="1" dirty="0"/>
          </a:p>
          <a:p>
            <a:pPr marL="91440" lvl="0" indent="-101600" algn="l" rtl="0">
              <a:lnSpc>
                <a:spcPct val="90000"/>
              </a:lnSpc>
              <a:spcBef>
                <a:spcPts val="1400"/>
              </a:spcBef>
              <a:spcAft>
                <a:spcPts val="0"/>
              </a:spcAft>
              <a:buSzPts val="1600"/>
              <a:buChar char=" "/>
            </a:pPr>
            <a:endParaRPr sz="1600" dirty="0"/>
          </a:p>
          <a:p>
            <a:pPr marL="91440" lvl="0" indent="0" algn="l" rtl="0">
              <a:lnSpc>
                <a:spcPct val="90000"/>
              </a:lnSpc>
              <a:spcBef>
                <a:spcPts val="1400"/>
              </a:spcBef>
              <a:spcAft>
                <a:spcPts val="0"/>
              </a:spcAft>
              <a:buSzPts val="2000"/>
              <a:buNone/>
            </a:pPr>
            <a:endParaRPr b="1" dirty="0"/>
          </a:p>
        </p:txBody>
      </p:sp>
      <p:sp>
        <p:nvSpPr>
          <p:cNvPr id="109" name="Google Shape;109;p1"/>
          <p:cNvSpPr txBox="1">
            <a:spLocks noGrp="1"/>
          </p:cNvSpPr>
          <p:nvPr>
            <p:ph type="ftr" idx="11"/>
          </p:nvPr>
        </p:nvSpPr>
        <p:spPr>
          <a:xfrm>
            <a:off x="1097279" y="6433889"/>
            <a:ext cx="9365673" cy="424111"/>
          </a:xfrm>
          <a:prstGeom prst="rect">
            <a:avLst/>
          </a:prstGeom>
          <a:noFill/>
          <a:ln>
            <a:noFill/>
          </a:ln>
        </p:spPr>
        <p:txBody>
          <a:bodyPr spcFirstLastPara="1" wrap="square" lIns="91425" tIns="45700" rIns="91425" bIns="45700" anchor="ctr" anchorCtr="0">
            <a:noAutofit/>
          </a:bodyPr>
          <a:lstStyle/>
          <a:p>
            <a:pPr lvl="0"/>
            <a:r>
              <a:rPr lang="en-US" sz="1100" dirty="0"/>
              <a:t>Mini Project (ISP67)</a:t>
            </a:r>
            <a:endParaRPr sz="1100" dirty="0"/>
          </a:p>
        </p:txBody>
      </p:sp>
      <p:sp>
        <p:nvSpPr>
          <p:cNvPr id="110" name="Google Shape;110;p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111" name="Google Shape;111;p1" descr="C:\Users\Admin\Desktop\Logo_21.06.2017.jpg"/>
          <p:cNvPicPr preferRelativeResize="0"/>
          <p:nvPr/>
        </p:nvPicPr>
        <p:blipFill rotWithShape="1">
          <a:blip r:embed="rId3">
            <a:alphaModFix/>
          </a:blip>
          <a:srcRect/>
          <a:stretch/>
        </p:blipFill>
        <p:spPr>
          <a:xfrm>
            <a:off x="817417" y="388795"/>
            <a:ext cx="2831945" cy="789216"/>
          </a:xfrm>
          <a:prstGeom prst="rect">
            <a:avLst/>
          </a:prstGeom>
          <a:noFill/>
          <a:ln>
            <a:noFill/>
          </a:ln>
        </p:spPr>
      </p:pic>
      <p:sp>
        <p:nvSpPr>
          <p:cNvPr id="112" name="Google Shape;112;p1"/>
          <p:cNvSpPr txBox="1"/>
          <p:nvPr/>
        </p:nvSpPr>
        <p:spPr>
          <a:xfrm>
            <a:off x="9792485" y="597164"/>
            <a:ext cx="152797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dirty="0">
                <a:solidFill>
                  <a:schemeClr val="dk1"/>
                </a:solidFill>
                <a:latin typeface="Calibri"/>
                <a:ea typeface="Calibri"/>
                <a:cs typeface="Calibri"/>
                <a:sym typeface="Calibri"/>
              </a:rPr>
              <a:t>D</a:t>
            </a:r>
            <a:r>
              <a:rPr lang="en-US" sz="1800" b="1" dirty="0">
                <a:solidFill>
                  <a:schemeClr val="dk1"/>
                </a:solidFill>
                <a:latin typeface="Calibri"/>
                <a:ea typeface="Calibri"/>
                <a:cs typeface="Calibri"/>
                <a:sym typeface="Calibri"/>
              </a:rPr>
              <a:t>EPT. OF ISE</a:t>
            </a:r>
            <a:endParaRPr sz="1800"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sp>
        <p:nvSpPr>
          <p:cNvPr id="118" name="Google Shape;118;p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r>
              <a:rPr lang="en-US" sz="1800" dirty="0">
                <a:latin typeface="Times New Roman" panose="02020603050405020304" pitchFamily="18" charset="0"/>
                <a:cs typeface="Times New Roman" panose="02020603050405020304" pitchFamily="18" charset="0"/>
              </a:rPr>
              <a:t>MSR Insight is an industry-grade, AI-powered academic reporting platform developed to automate the generation of professional and insight-driven student performance reports.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Seamlessly ingests academic scores, attendance records, and </a:t>
            </a:r>
            <a:r>
              <a:rPr lang="en-US" sz="1800" dirty="0" err="1">
                <a:latin typeface="Times New Roman" panose="02020603050405020304" pitchFamily="18" charset="0"/>
                <a:cs typeface="Times New Roman" panose="02020603050405020304" pitchFamily="18" charset="0"/>
              </a:rPr>
              <a:t>behavioural</a:t>
            </a:r>
            <a:r>
              <a:rPr lang="en-US" sz="1800" dirty="0">
                <a:latin typeface="Times New Roman" panose="02020603050405020304" pitchFamily="18" charset="0"/>
                <a:cs typeface="Times New Roman" panose="02020603050405020304" pitchFamily="18" charset="0"/>
              </a:rPr>
              <a:t> data</a:t>
            </a:r>
          </a:p>
          <a:p>
            <a:r>
              <a:rPr lang="en-US" sz="1800" dirty="0">
                <a:latin typeface="Times New Roman" panose="02020603050405020304" pitchFamily="18" charset="0"/>
                <a:cs typeface="Times New Roman" panose="02020603050405020304" pitchFamily="18" charset="0"/>
              </a:rPr>
              <a:t>• Processes information through a sophisticated Intelligence Service</a:t>
            </a:r>
          </a:p>
          <a:p>
            <a:r>
              <a:rPr lang="en-US" sz="1800" dirty="0">
                <a:latin typeface="Times New Roman" panose="02020603050405020304" pitchFamily="18" charset="0"/>
                <a:cs typeface="Times New Roman" panose="02020603050405020304" pitchFamily="18" charset="0"/>
              </a:rPr>
              <a:t>• Outputs professional, high-fidelity A4-formatted reports with AI-generated feedback</a:t>
            </a:r>
          </a:p>
          <a:p>
            <a:r>
              <a:rPr lang="en-US" sz="1800" dirty="0">
                <a:latin typeface="Times New Roman" panose="02020603050405020304" pitchFamily="18" charset="0"/>
                <a:cs typeface="Times New Roman" panose="02020603050405020304" pitchFamily="18" charset="0"/>
              </a:rPr>
              <a:t>• Features a Retrieval-Augmented Generation (RAG) assistant for proctors</a:t>
            </a:r>
          </a:p>
          <a:p>
            <a:r>
              <a:rPr lang="en-US" sz="1800" dirty="0">
                <a:latin typeface="Times New Roman" panose="02020603050405020304" pitchFamily="18" charset="0"/>
                <a:cs typeface="Times New Roman" panose="02020603050405020304" pitchFamily="18" charset="0"/>
              </a:rPr>
              <a:t>• Fosters academic excellence through intelligent analytics</a:t>
            </a:r>
          </a:p>
        </p:txBody>
      </p:sp>
      <p:sp>
        <p:nvSpPr>
          <p:cNvPr id="119" name="Google Shape;119;p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lvl="0"/>
            <a:r>
              <a:rPr lang="en-US"/>
              <a:t>Mini Project (ISP67)</a:t>
            </a:r>
            <a:endParaRPr/>
          </a:p>
        </p:txBody>
      </p:sp>
      <p:sp>
        <p:nvSpPr>
          <p:cNvPr id="120" name="Google Shape;120;p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latin typeface="Times New Roman" panose="02020603050405020304" pitchFamily="18" charset="0"/>
                <a:cs typeface="Times New Roman" panose="02020603050405020304" pitchFamily="18" charset="0"/>
              </a:rPr>
              <a:t>Motivation and Scope</a:t>
            </a:r>
            <a:endParaRPr dirty="0">
              <a:latin typeface="Times New Roman" panose="02020603050405020304" pitchFamily="18" charset="0"/>
              <a:cs typeface="Times New Roman" panose="02020603050405020304" pitchFamily="18" charset="0"/>
            </a:endParaRPr>
          </a:p>
        </p:txBody>
      </p:sp>
      <p:sp>
        <p:nvSpPr>
          <p:cNvPr id="126" name="Google Shape;126;p3"/>
          <p:cNvSpPr txBox="1">
            <a:spLocks noGrp="1"/>
          </p:cNvSpPr>
          <p:nvPr>
            <p:ph type="body" idx="1"/>
          </p:nvPr>
        </p:nvSpPr>
        <p:spPr>
          <a:xfrm>
            <a:off x="1097280" y="1737360"/>
            <a:ext cx="10058400" cy="4131734"/>
          </a:xfrm>
          <a:prstGeom prst="rect">
            <a:avLst/>
          </a:prstGeom>
          <a:noFill/>
          <a:ln>
            <a:noFill/>
          </a:ln>
        </p:spPr>
        <p:txBody>
          <a:bodyPr spcFirstLastPara="1" wrap="square" lIns="0" tIns="45700" rIns="0" bIns="45700" anchor="t" anchorCtr="0">
            <a:normAutofit fontScale="25000" lnSpcReduction="20000"/>
          </a:bodyPr>
          <a:lstStyle/>
          <a:p>
            <a:pPr marL="0" lvl="0" indent="0" algn="just" rtl="0">
              <a:lnSpc>
                <a:spcPct val="90000"/>
              </a:lnSpc>
              <a:spcBef>
                <a:spcPts val="0"/>
              </a:spcBef>
              <a:spcAft>
                <a:spcPts val="0"/>
              </a:spcAft>
              <a:buSzPts val="2000"/>
              <a:buNone/>
            </a:pPr>
            <a:endParaRPr dirty="0"/>
          </a:p>
          <a:p>
            <a:pPr>
              <a:lnSpc>
                <a:spcPct val="150000"/>
              </a:lnSpc>
              <a:buFont typeface="Wingdings" panose="05000000000000000000" pitchFamily="2" charset="2"/>
              <a:buChar char="q"/>
            </a:pPr>
            <a:r>
              <a:rPr lang="en-US" sz="5600" b="1" dirty="0">
                <a:latin typeface="Times New Roman" panose="02020603050405020304" pitchFamily="18" charset="0"/>
                <a:cs typeface="Times New Roman" panose="02020603050405020304" pitchFamily="18" charset="0"/>
              </a:rPr>
              <a:t> Motivation</a:t>
            </a:r>
          </a:p>
          <a:p>
            <a:pPr lvl="1">
              <a:lnSpc>
                <a:spcPct val="150000"/>
              </a:lnSpc>
              <a:buFont typeface="Wingdings" panose="05000000000000000000" pitchFamily="2" charset="2"/>
              <a:buChar char="Ø"/>
            </a:pPr>
            <a:r>
              <a:rPr lang="en-US" sz="5600" dirty="0">
                <a:latin typeface="Times New Roman" panose="02020603050405020304" pitchFamily="18" charset="0"/>
                <a:cs typeface="Times New Roman" panose="02020603050405020304" pitchFamily="18" charset="0"/>
              </a:rPr>
              <a:t>Reduce workload for faculty and proctors.</a:t>
            </a:r>
          </a:p>
          <a:p>
            <a:pPr lvl="1">
              <a:lnSpc>
                <a:spcPct val="150000"/>
              </a:lnSpc>
              <a:buFont typeface="Wingdings" panose="05000000000000000000" pitchFamily="2" charset="2"/>
              <a:buChar char="Ø"/>
            </a:pPr>
            <a:r>
              <a:rPr lang="en-US" sz="5600" dirty="0">
                <a:latin typeface="Times New Roman" panose="02020603050405020304" pitchFamily="18" charset="0"/>
                <a:cs typeface="Times New Roman" panose="02020603050405020304" pitchFamily="18" charset="0"/>
              </a:rPr>
              <a:t>Improve accuracy and consistency in reporting.</a:t>
            </a:r>
          </a:p>
          <a:p>
            <a:pPr lvl="1">
              <a:lnSpc>
                <a:spcPct val="150000"/>
              </a:lnSpc>
              <a:buFont typeface="Wingdings" panose="05000000000000000000" pitchFamily="2" charset="2"/>
              <a:buChar char="Ø"/>
            </a:pPr>
            <a:r>
              <a:rPr lang="en-US" sz="5600" dirty="0">
                <a:latin typeface="Times New Roman" panose="02020603050405020304" pitchFamily="18" charset="0"/>
                <a:cs typeface="Times New Roman" panose="02020603050405020304" pitchFamily="18" charset="0"/>
              </a:rPr>
              <a:t>Enhance transparency between institution and parents.</a:t>
            </a:r>
          </a:p>
          <a:p>
            <a:pPr lvl="1">
              <a:lnSpc>
                <a:spcPct val="150000"/>
              </a:lnSpc>
              <a:buFont typeface="Wingdings" panose="05000000000000000000" pitchFamily="2" charset="2"/>
              <a:buChar char="Ø"/>
            </a:pPr>
            <a:r>
              <a:rPr lang="en-US" sz="5600" dirty="0">
                <a:latin typeface="Times New Roman" panose="02020603050405020304" pitchFamily="18" charset="0"/>
                <a:cs typeface="Times New Roman" panose="02020603050405020304" pitchFamily="18" charset="0"/>
              </a:rPr>
              <a:t>Enable early academic intervention for students.</a:t>
            </a:r>
          </a:p>
          <a:p>
            <a:pPr>
              <a:lnSpc>
                <a:spcPct val="150000"/>
              </a:lnSpc>
              <a:buFont typeface="Wingdings" panose="05000000000000000000" pitchFamily="2" charset="2"/>
              <a:buChar char="q"/>
            </a:pPr>
            <a:r>
              <a:rPr lang="en-US" sz="5600" b="1" dirty="0">
                <a:latin typeface="Times New Roman" panose="02020603050405020304" pitchFamily="18" charset="0"/>
                <a:cs typeface="Times New Roman" panose="02020603050405020304" pitchFamily="18" charset="0"/>
              </a:rPr>
              <a:t> Scope</a:t>
            </a:r>
          </a:p>
          <a:p>
            <a:pPr lvl="1">
              <a:lnSpc>
                <a:spcPct val="150000"/>
              </a:lnSpc>
              <a:buFont typeface="Wingdings" panose="05000000000000000000" pitchFamily="2" charset="2"/>
              <a:buChar char="Ø"/>
            </a:pPr>
            <a:r>
              <a:rPr lang="en-US" sz="5600" dirty="0">
                <a:latin typeface="Times New Roman" panose="02020603050405020304" pitchFamily="18" charset="0"/>
                <a:cs typeface="Times New Roman" panose="02020603050405020304" pitchFamily="18" charset="0"/>
              </a:rPr>
              <a:t>Automated processing of marks and attendance data.</a:t>
            </a:r>
          </a:p>
          <a:p>
            <a:pPr lvl="1">
              <a:lnSpc>
                <a:spcPct val="150000"/>
              </a:lnSpc>
              <a:buFont typeface="Wingdings" panose="05000000000000000000" pitchFamily="2" charset="2"/>
              <a:buChar char="Ø"/>
            </a:pPr>
            <a:r>
              <a:rPr lang="en-US" sz="5600" dirty="0">
                <a:latin typeface="Times New Roman" panose="02020603050405020304" pitchFamily="18" charset="0"/>
                <a:cs typeface="Times New Roman" panose="02020603050405020304" pitchFamily="18" charset="0"/>
              </a:rPr>
              <a:t>Intelligent comment generation based on performance patterns.</a:t>
            </a:r>
          </a:p>
          <a:p>
            <a:pPr lvl="1">
              <a:lnSpc>
                <a:spcPct val="150000"/>
              </a:lnSpc>
              <a:buFont typeface="Wingdings" panose="05000000000000000000" pitchFamily="2" charset="2"/>
              <a:buChar char="Ø"/>
            </a:pPr>
            <a:r>
              <a:rPr lang="en-US" sz="5600" dirty="0">
                <a:latin typeface="Times New Roman" panose="02020603050405020304" pitchFamily="18" charset="0"/>
                <a:cs typeface="Times New Roman" panose="02020603050405020304" pitchFamily="18" charset="0"/>
              </a:rPr>
              <a:t>Report creation in digital format (HTML/PDF/Email).</a:t>
            </a:r>
          </a:p>
          <a:p>
            <a:pPr lvl="1">
              <a:lnSpc>
                <a:spcPct val="150000"/>
              </a:lnSpc>
              <a:buFont typeface="Wingdings" panose="05000000000000000000" pitchFamily="2" charset="2"/>
              <a:buChar char="Ø"/>
            </a:pPr>
            <a:r>
              <a:rPr lang="en-US" sz="5600" dirty="0">
                <a:latin typeface="Times New Roman" panose="02020603050405020304" pitchFamily="18" charset="0"/>
                <a:cs typeface="Times New Roman" panose="02020603050405020304" pitchFamily="18" charset="0"/>
              </a:rPr>
              <a:t>Email delivery to parents through integrated mail system.</a:t>
            </a:r>
          </a:p>
          <a:p>
            <a:pPr lvl="1">
              <a:lnSpc>
                <a:spcPct val="150000"/>
              </a:lnSpc>
              <a:buFont typeface="Wingdings" panose="05000000000000000000" pitchFamily="2" charset="2"/>
              <a:buChar char="Ø"/>
            </a:pPr>
            <a:r>
              <a:rPr lang="en-US" sz="5600" dirty="0">
                <a:latin typeface="Times New Roman" panose="02020603050405020304" pitchFamily="18" charset="0"/>
                <a:cs typeface="Times New Roman" panose="02020603050405020304" pitchFamily="18" charset="0"/>
              </a:rPr>
              <a:t>Conversational Access about students</a:t>
            </a:r>
          </a:p>
          <a:p>
            <a:pPr lvl="1">
              <a:lnSpc>
                <a:spcPct val="150000"/>
              </a:lnSpc>
              <a:buFont typeface="Wingdings" panose="05000000000000000000" pitchFamily="2" charset="2"/>
              <a:buChar char="Ø"/>
            </a:pPr>
            <a:r>
              <a:rPr lang="en-US" sz="5600" dirty="0">
                <a:latin typeface="Times New Roman" panose="02020603050405020304" pitchFamily="18" charset="0"/>
                <a:cs typeface="Times New Roman" panose="02020603050405020304" pitchFamily="18" charset="0"/>
              </a:rPr>
              <a:t>Scalable to institutional databases in future phases.</a:t>
            </a:r>
          </a:p>
          <a:p>
            <a:pPr marL="0" indent="0" algn="just" fontAlgn="base">
              <a:lnSpc>
                <a:spcPct val="150000"/>
              </a:lnSpc>
              <a:buNone/>
            </a:pPr>
            <a:endParaRPr lang="en-GB" sz="1600" dirty="0">
              <a:latin typeface="Times New Roman" panose="02020603050405020304" pitchFamily="18" charset="0"/>
              <a:cs typeface="Times New Roman" panose="02020603050405020304" pitchFamily="18" charset="0"/>
            </a:endParaRPr>
          </a:p>
          <a:p>
            <a:pPr marL="457200" lvl="0" indent="-330200" algn="just" rtl="0">
              <a:lnSpc>
                <a:spcPct val="90000"/>
              </a:lnSpc>
              <a:spcBef>
                <a:spcPts val="1400"/>
              </a:spcBef>
              <a:spcAft>
                <a:spcPts val="0"/>
              </a:spcAft>
              <a:buSzPts val="2000"/>
              <a:buFont typeface="Calibri"/>
              <a:buNone/>
            </a:pPr>
            <a:endParaRPr dirty="0"/>
          </a:p>
        </p:txBody>
      </p:sp>
      <p:sp>
        <p:nvSpPr>
          <p:cNvPr id="127" name="Google Shape;127;p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lvl="0"/>
            <a:r>
              <a:rPr lang="en-US"/>
              <a:t>Mini Project (ISP67)</a:t>
            </a:r>
            <a:endParaRPr/>
          </a:p>
        </p:txBody>
      </p:sp>
      <p:sp>
        <p:nvSpPr>
          <p:cNvPr id="128" name="Google Shape;128;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latin typeface="Times New Roman" panose="02020603050405020304" pitchFamily="18" charset="0"/>
                <a:cs typeface="Times New Roman" panose="02020603050405020304" pitchFamily="18" charset="0"/>
              </a:rPr>
              <a:t>Challenges and Issues</a:t>
            </a:r>
            <a:endParaRPr dirty="0">
              <a:latin typeface="Times New Roman" panose="02020603050405020304" pitchFamily="18" charset="0"/>
              <a:cs typeface="Times New Roman" panose="02020603050405020304" pitchFamily="18" charset="0"/>
            </a:endParaRPr>
          </a:p>
        </p:txBody>
      </p:sp>
      <p:sp>
        <p:nvSpPr>
          <p:cNvPr id="134" name="Google Shape;134;p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lnSpcReduction="10000"/>
          </a:bodyPr>
          <a:lstStyle/>
          <a:p>
            <a:pPr lvl="0" eaLnBrk="0" fontAlgn="base" hangingPunct="0">
              <a:lnSpc>
                <a:spcPct val="150000"/>
              </a:lnSpc>
              <a:spcBef>
                <a:spcPct val="0"/>
              </a:spcBef>
              <a:spcAft>
                <a:spcPct val="0"/>
              </a:spcAft>
              <a:buSzTx/>
              <a:buFont typeface="Wingdings" panose="05000000000000000000" pitchFamily="2" charset="2"/>
              <a:buChar char="q"/>
            </a:pPr>
            <a:r>
              <a:rPr lang="en-US" altLang="en-US" sz="1600" dirty="0">
                <a:solidFill>
                  <a:schemeClr val="bg1">
                    <a:lumMod val="50000"/>
                  </a:schemeClr>
                </a:solidFill>
                <a:latin typeface="Times New Roman" panose="02020603050405020304" pitchFamily="18" charset="0"/>
                <a:cs typeface="Times New Roman" panose="02020603050405020304" pitchFamily="18" charset="0"/>
              </a:rPr>
              <a:t> </a:t>
            </a: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Existing systems store marks but </a:t>
            </a:r>
            <a:r>
              <a:rPr lang="en-US" altLang="en-US" sz="1600" b="1" dirty="0">
                <a:solidFill>
                  <a:schemeClr val="tx1">
                    <a:lumMod val="65000"/>
                    <a:lumOff val="35000"/>
                  </a:schemeClr>
                </a:solidFill>
                <a:latin typeface="Times New Roman" panose="02020603050405020304" pitchFamily="18" charset="0"/>
                <a:cs typeface="Times New Roman" panose="02020603050405020304" pitchFamily="18" charset="0"/>
              </a:rPr>
              <a:t>do not analyze performance trends</a:t>
            </a: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a:t>
            </a:r>
          </a:p>
          <a:p>
            <a:pPr lvl="0" eaLnBrk="0" fontAlgn="base" hangingPunct="0">
              <a:lnSpc>
                <a:spcPct val="150000"/>
              </a:lnSpc>
              <a:spcBef>
                <a:spcPct val="0"/>
              </a:spcBef>
              <a:spcAft>
                <a:spcPct val="0"/>
              </a:spcAft>
              <a:buSzTx/>
              <a:buFont typeface="Wingdings" panose="05000000000000000000" pitchFamily="2" charset="2"/>
              <a:buChar char="q"/>
            </a:pP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 No automated identification of low attendance or weak subjects.</a:t>
            </a:r>
          </a:p>
          <a:p>
            <a:pPr lvl="0" eaLnBrk="0" fontAlgn="base" hangingPunct="0">
              <a:lnSpc>
                <a:spcPct val="150000"/>
              </a:lnSpc>
              <a:spcBef>
                <a:spcPct val="0"/>
              </a:spcBef>
              <a:spcAft>
                <a:spcPct val="0"/>
              </a:spcAft>
              <a:buSzTx/>
              <a:buFont typeface="Wingdings" panose="05000000000000000000" pitchFamily="2" charset="2"/>
              <a:buChar char="q"/>
            </a:pP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 Reports lack </a:t>
            </a:r>
            <a:r>
              <a:rPr lang="en-US" altLang="en-US" sz="1600" b="1" dirty="0">
                <a:solidFill>
                  <a:schemeClr val="tx1">
                    <a:lumMod val="65000"/>
                    <a:lumOff val="35000"/>
                  </a:schemeClr>
                </a:solidFill>
                <a:latin typeface="Times New Roman" panose="02020603050405020304" pitchFamily="18" charset="0"/>
                <a:cs typeface="Times New Roman" panose="02020603050405020304" pitchFamily="18" charset="0"/>
              </a:rPr>
              <a:t>personalized smart comments</a:t>
            </a: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a:t>
            </a:r>
          </a:p>
          <a:p>
            <a:pPr lvl="0" eaLnBrk="0" fontAlgn="base" hangingPunct="0">
              <a:lnSpc>
                <a:spcPct val="150000"/>
              </a:lnSpc>
              <a:spcBef>
                <a:spcPct val="0"/>
              </a:spcBef>
              <a:spcAft>
                <a:spcPct val="0"/>
              </a:spcAft>
              <a:buSzTx/>
              <a:buFont typeface="Wingdings" panose="05000000000000000000" pitchFamily="2" charset="2"/>
              <a:buChar char="q"/>
            </a:pP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 Report generation remains </a:t>
            </a:r>
            <a:r>
              <a:rPr lang="en-US" altLang="en-US" sz="1600" b="1" dirty="0">
                <a:solidFill>
                  <a:schemeClr val="tx1">
                    <a:lumMod val="65000"/>
                    <a:lumOff val="35000"/>
                  </a:schemeClr>
                </a:solidFill>
                <a:latin typeface="Times New Roman" panose="02020603050405020304" pitchFamily="18" charset="0"/>
                <a:cs typeface="Times New Roman" panose="02020603050405020304" pitchFamily="18" charset="0"/>
              </a:rPr>
              <a:t>manual and fragmented</a:t>
            </a: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a:t>
            </a:r>
          </a:p>
          <a:p>
            <a:pPr lvl="0" eaLnBrk="0" fontAlgn="base" hangingPunct="0">
              <a:lnSpc>
                <a:spcPct val="150000"/>
              </a:lnSpc>
              <a:spcBef>
                <a:spcPct val="0"/>
              </a:spcBef>
              <a:spcAft>
                <a:spcPct val="0"/>
              </a:spcAft>
              <a:buSzTx/>
              <a:buFont typeface="Wingdings" panose="05000000000000000000" pitchFamily="2" charset="2"/>
              <a:buChar char="q"/>
            </a:pP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 No unified integration of:</a:t>
            </a:r>
          </a:p>
          <a:p>
            <a:pPr marL="578358" lvl="1" indent="-285750" eaLnBrk="0" fontAlgn="base" hangingPunct="0">
              <a:lnSpc>
                <a:spcPct val="150000"/>
              </a:lnSpc>
              <a:spcBef>
                <a:spcPct val="0"/>
              </a:spcBef>
              <a:spcAft>
                <a:spcPct val="0"/>
              </a:spcAft>
              <a:buFont typeface="Wingdings" panose="05000000000000000000" pitchFamily="2" charset="2"/>
              <a:buChar char="v"/>
            </a:pP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marks</a:t>
            </a:r>
          </a:p>
          <a:p>
            <a:pPr marL="578358" lvl="1" indent="-285750" eaLnBrk="0" fontAlgn="base" hangingPunct="0">
              <a:lnSpc>
                <a:spcPct val="150000"/>
              </a:lnSpc>
              <a:spcBef>
                <a:spcPct val="0"/>
              </a:spcBef>
              <a:spcAft>
                <a:spcPct val="0"/>
              </a:spcAft>
              <a:buFont typeface="Wingdings" panose="05000000000000000000" pitchFamily="2" charset="2"/>
              <a:buChar char="v"/>
            </a:pP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attendance</a:t>
            </a:r>
          </a:p>
          <a:p>
            <a:pPr marL="578358" lvl="1" indent="-285750" eaLnBrk="0" fontAlgn="base" hangingPunct="0">
              <a:lnSpc>
                <a:spcPct val="150000"/>
              </a:lnSpc>
              <a:spcBef>
                <a:spcPct val="0"/>
              </a:spcBef>
              <a:spcAft>
                <a:spcPct val="0"/>
              </a:spcAft>
              <a:buFont typeface="Wingdings" panose="05000000000000000000" pitchFamily="2" charset="2"/>
              <a:buChar char="v"/>
            </a:pP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proctor feedback</a:t>
            </a:r>
          </a:p>
          <a:p>
            <a:pPr marL="578358" lvl="1" indent="-285750" eaLnBrk="0" fontAlgn="base" hangingPunct="0">
              <a:lnSpc>
                <a:spcPct val="150000"/>
              </a:lnSpc>
              <a:spcBef>
                <a:spcPct val="0"/>
              </a:spcBef>
              <a:spcAft>
                <a:spcPct val="0"/>
              </a:spcAft>
              <a:buFont typeface="Wingdings" panose="05000000000000000000" pitchFamily="2" charset="2"/>
              <a:buChar char="v"/>
            </a:pP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parental notification</a:t>
            </a:r>
          </a:p>
          <a:p>
            <a:pPr lvl="0" eaLnBrk="0" fontAlgn="base" hangingPunct="0">
              <a:lnSpc>
                <a:spcPct val="150000"/>
              </a:lnSpc>
              <a:spcBef>
                <a:spcPct val="0"/>
              </a:spcBef>
              <a:spcAft>
                <a:spcPct val="0"/>
              </a:spcAft>
              <a:buSzTx/>
              <a:buFont typeface="Wingdings" panose="05000000000000000000" pitchFamily="2" charset="2"/>
              <a:buChar char="q"/>
            </a:pP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 No automated email dispatch mechanism.</a:t>
            </a:r>
          </a:p>
          <a:p>
            <a:pPr lvl="0" eaLnBrk="0" fontAlgn="base" hangingPunct="0">
              <a:lnSpc>
                <a:spcPct val="150000"/>
              </a:lnSpc>
              <a:spcBef>
                <a:spcPct val="0"/>
              </a:spcBef>
              <a:spcAft>
                <a:spcPct val="0"/>
              </a:spcAft>
              <a:buSzTx/>
              <a:buFont typeface="Wingdings" panose="05000000000000000000" pitchFamily="2" charset="2"/>
              <a:buChar char="q"/>
            </a:pP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 Proposed project fills these gaps through </a:t>
            </a:r>
            <a:r>
              <a:rPr lang="en-US" altLang="en-US" sz="1600" b="1" dirty="0">
                <a:solidFill>
                  <a:schemeClr val="tx1">
                    <a:lumMod val="65000"/>
                    <a:lumOff val="35000"/>
                  </a:schemeClr>
                </a:solidFill>
                <a:latin typeface="Times New Roman" panose="02020603050405020304" pitchFamily="18" charset="0"/>
                <a:cs typeface="Times New Roman" panose="02020603050405020304" pitchFamily="18" charset="0"/>
              </a:rPr>
              <a:t>intelligent end-to-end automation</a:t>
            </a:r>
            <a:r>
              <a:rPr lang="en-US" altLang="en-US" sz="1600" dirty="0">
                <a:solidFill>
                  <a:schemeClr val="tx1">
                    <a:lumMod val="65000"/>
                    <a:lumOff val="35000"/>
                  </a:schemeClr>
                </a:solidFill>
                <a:latin typeface="Times New Roman" panose="02020603050405020304" pitchFamily="18" charset="0"/>
                <a:cs typeface="Times New Roman" panose="02020603050405020304" pitchFamily="18" charset="0"/>
              </a:rPr>
              <a:t>.</a:t>
            </a:r>
          </a:p>
        </p:txBody>
      </p:sp>
      <p:sp>
        <p:nvSpPr>
          <p:cNvPr id="135" name="Google Shape;135;p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lvl="0"/>
            <a:r>
              <a:rPr lang="en-US"/>
              <a:t>Mini Project (ISP67)</a:t>
            </a:r>
            <a:endParaRPr/>
          </a:p>
        </p:txBody>
      </p:sp>
      <p:sp>
        <p:nvSpPr>
          <p:cNvPr id="136" name="Google Shape;136;p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latin typeface="Times New Roman" panose="02020603050405020304" pitchFamily="18" charset="0"/>
                <a:cs typeface="Times New Roman" panose="02020603050405020304" pitchFamily="18" charset="0"/>
              </a:rPr>
              <a:t>Problem Statement</a:t>
            </a:r>
            <a:endParaRPr dirty="0">
              <a:latin typeface="Times New Roman" panose="02020603050405020304" pitchFamily="18" charset="0"/>
              <a:cs typeface="Times New Roman" panose="02020603050405020304" pitchFamily="18" charset="0"/>
            </a:endParaRPr>
          </a:p>
        </p:txBody>
      </p:sp>
      <p:sp>
        <p:nvSpPr>
          <p:cNvPr id="142" name="Google Shape;142;p5"/>
          <p:cNvSpPr txBox="1">
            <a:spLocks noGrp="1"/>
          </p:cNvSpPr>
          <p:nvPr>
            <p:ph type="body" idx="1"/>
          </p:nvPr>
        </p:nvSpPr>
        <p:spPr>
          <a:xfrm>
            <a:off x="1097280" y="1865398"/>
            <a:ext cx="10196796" cy="4023360"/>
          </a:xfrm>
          <a:prstGeom prst="rect">
            <a:avLst/>
          </a:prstGeom>
          <a:noFill/>
          <a:ln>
            <a:noFill/>
          </a:ln>
        </p:spPr>
        <p:txBody>
          <a:bodyPr spcFirstLastPara="1" wrap="square" lIns="0" tIns="45700" rIns="0" bIns="45700" anchor="t" anchorCtr="0">
            <a:noAutofit/>
          </a:bodyPr>
          <a:lstStyle/>
          <a:p>
            <a:pPr marL="0" lvl="0" indent="0" algn="just">
              <a:lnSpc>
                <a:spcPct val="150000"/>
              </a:lnSpc>
              <a:spcBef>
                <a:spcPts val="0"/>
              </a:spcBef>
              <a:buSzPts val="2000"/>
              <a:buNone/>
            </a:pPr>
            <a:r>
              <a:rPr lang="en-US" sz="1400" dirty="0">
                <a:latin typeface="Times New Roman" panose="02020603050405020304" pitchFamily="18" charset="0"/>
                <a:cs typeface="Times New Roman" panose="02020603050405020304" pitchFamily="18" charset="0"/>
              </a:rPr>
              <a:t>	</a:t>
            </a:r>
            <a:r>
              <a:rPr lang="en-US" sz="1450" dirty="0">
                <a:latin typeface="Times New Roman" panose="02020603050405020304" pitchFamily="18" charset="0"/>
                <a:cs typeface="Times New Roman" panose="02020603050405020304" pitchFamily="18" charset="0"/>
              </a:rPr>
              <a:t>Educational institutions manage large volumes of student academic data, including attendance records, assessment scores, examination results, and historical performance information. However, accessing and consolidating this data often requires navigating multiple portal pages and manually compiling information into reports. This process is time-consuming, inefficient, and places a significant administrative burden on proctors and faculty members, particularly when managing large groups of students.</a:t>
            </a:r>
          </a:p>
          <a:p>
            <a:pPr marL="0" lvl="0" indent="0" algn="just">
              <a:lnSpc>
                <a:spcPct val="150000"/>
              </a:lnSpc>
              <a:spcBef>
                <a:spcPts val="0"/>
              </a:spcBef>
              <a:buSzPts val="2000"/>
              <a:buNone/>
            </a:pPr>
            <a:endParaRPr lang="en-US" sz="1450" dirty="0">
              <a:latin typeface="Times New Roman" panose="02020603050405020304" pitchFamily="18" charset="0"/>
              <a:cs typeface="Times New Roman" panose="02020603050405020304" pitchFamily="18" charset="0"/>
            </a:endParaRPr>
          </a:p>
          <a:p>
            <a:pPr marL="0" lvl="0" indent="0" algn="just">
              <a:lnSpc>
                <a:spcPct val="150000"/>
              </a:lnSpc>
              <a:spcBef>
                <a:spcPts val="0"/>
              </a:spcBef>
              <a:buSzPts val="2000"/>
              <a:buNone/>
            </a:pPr>
            <a:r>
              <a:rPr lang="en-US" sz="1450" dirty="0">
                <a:latin typeface="Times New Roman" panose="02020603050405020304" pitchFamily="18" charset="0"/>
                <a:cs typeface="Times New Roman" panose="02020603050405020304" pitchFamily="18" charset="0"/>
              </a:rPr>
              <a:t>	Beyond report preparation, existing systems provide limited support for performance analysis and student monitoring. The absence of automated data collection, intelligent analytics, personalized feedback generation, and centralized access to academic information makes it difficult to identify performance trends, support data-driven mentoring, and deliver timely reports to students and parents. Therefore, there is a need for an integrated, AI-powered academic reporting platform that automates data acquisition, generates professional performance reports, provides actionable insights, and enables efficient academic management through intelligent analytics and conversational data access.</a:t>
            </a:r>
          </a:p>
          <a:p>
            <a:pPr marL="0" lvl="0" indent="0" algn="just">
              <a:lnSpc>
                <a:spcPct val="150000"/>
              </a:lnSpc>
              <a:spcBef>
                <a:spcPts val="0"/>
              </a:spcBef>
              <a:buSzPts val="2000"/>
              <a:buNone/>
            </a:pPr>
            <a:endParaRPr lang="en-US" sz="1400" dirty="0">
              <a:latin typeface="Times New Roman" panose="02020603050405020304" pitchFamily="18" charset="0"/>
              <a:cs typeface="Times New Roman" panose="02020603050405020304" pitchFamily="18" charset="0"/>
            </a:endParaRPr>
          </a:p>
        </p:txBody>
      </p:sp>
      <p:sp>
        <p:nvSpPr>
          <p:cNvPr id="143" name="Google Shape;143;p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lvl="0"/>
            <a:r>
              <a:rPr lang="en-US"/>
              <a:t>Mini Project (ISP67)</a:t>
            </a:r>
            <a:endParaRPr/>
          </a:p>
        </p:txBody>
      </p:sp>
      <p:sp>
        <p:nvSpPr>
          <p:cNvPr id="144" name="Google Shape;144;p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latin typeface="Times New Roman" panose="02020603050405020304" pitchFamily="18" charset="0"/>
                <a:cs typeface="Times New Roman" panose="02020603050405020304" pitchFamily="18" charset="0"/>
              </a:rPr>
              <a:t>Objective</a:t>
            </a:r>
            <a:endParaRPr dirty="0">
              <a:latin typeface="Times New Roman" panose="02020603050405020304" pitchFamily="18" charset="0"/>
              <a:cs typeface="Times New Roman" panose="02020603050405020304" pitchFamily="18" charset="0"/>
            </a:endParaRPr>
          </a:p>
        </p:txBody>
      </p:sp>
      <p:sp>
        <p:nvSpPr>
          <p:cNvPr id="150" name="Google Shape;150;p6"/>
          <p:cNvSpPr txBox="1">
            <a:spLocks noGrp="1"/>
          </p:cNvSpPr>
          <p:nvPr>
            <p:ph type="body" idx="1"/>
          </p:nvPr>
        </p:nvSpPr>
        <p:spPr>
          <a:xfrm>
            <a:off x="762983" y="1845734"/>
            <a:ext cx="10058400" cy="4023360"/>
          </a:xfrm>
          <a:prstGeom prst="rect">
            <a:avLst/>
          </a:prstGeom>
          <a:noFill/>
          <a:ln>
            <a:noFill/>
          </a:ln>
        </p:spPr>
        <p:txBody>
          <a:bodyPr spcFirstLastPara="1" wrap="square" lIns="0" tIns="45700" rIns="0" bIns="45700" anchor="t" anchorCtr="0">
            <a:normAutofit lnSpcReduction="10000"/>
          </a:bodyPr>
          <a:lstStyle/>
          <a:p>
            <a:pPr lvl="1">
              <a:lnSpc>
                <a:spcPct val="200000"/>
              </a:lnSpc>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Real-Time Student Data Scraping and Analytics</a:t>
            </a:r>
          </a:p>
          <a:p>
            <a:pPr lvl="1">
              <a:lnSpc>
                <a:spcPct val="200000"/>
              </a:lnSpc>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Automate Academic Performance Analysis</a:t>
            </a:r>
            <a:endParaRPr lang="en-US" sz="1600" dirty="0">
              <a:latin typeface="Times New Roman" panose="02020603050405020304" pitchFamily="18" charset="0"/>
              <a:cs typeface="Times New Roman" panose="02020603050405020304" pitchFamily="18" charset="0"/>
            </a:endParaRPr>
          </a:p>
          <a:p>
            <a:pPr lvl="1">
              <a:lnSpc>
                <a:spcPct val="200000"/>
              </a:lnSpc>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Provide Personalized Student Monitoring</a:t>
            </a:r>
            <a:endParaRPr lang="en-US" sz="1600" dirty="0">
              <a:latin typeface="Times New Roman" panose="02020603050405020304" pitchFamily="18" charset="0"/>
              <a:cs typeface="Times New Roman" panose="02020603050405020304" pitchFamily="18" charset="0"/>
            </a:endParaRPr>
          </a:p>
          <a:p>
            <a:pPr lvl="1">
              <a:lnSpc>
                <a:spcPct val="200000"/>
              </a:lnSpc>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Generate Professional Academic Reports</a:t>
            </a:r>
          </a:p>
          <a:p>
            <a:pPr lvl="1">
              <a:lnSpc>
                <a:spcPct val="200000"/>
              </a:lnSpc>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Automate Parent Communication</a:t>
            </a:r>
          </a:p>
          <a:p>
            <a:pPr lvl="1">
              <a:lnSpc>
                <a:spcPct val="200000"/>
              </a:lnSpc>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Enable Conversational Access to Academic Data</a:t>
            </a:r>
          </a:p>
          <a:p>
            <a:pPr lvl="1">
              <a:lnSpc>
                <a:spcPct val="200000"/>
              </a:lnSpc>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Enhance Proctoring and Mentorship</a:t>
            </a:r>
          </a:p>
          <a:p>
            <a:pPr lvl="1">
              <a:lnSpc>
                <a:spcPct val="20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Minimize manual intervention and human error.</a:t>
            </a:r>
          </a:p>
          <a:p>
            <a:pPr lvl="1">
              <a:lnSpc>
                <a:spcPct val="200000"/>
              </a:lnSpc>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sp>
        <p:nvSpPr>
          <p:cNvPr id="151" name="Google Shape;151;p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lvl="0"/>
            <a:r>
              <a:rPr lang="en-US"/>
              <a:t>Mini Project (ISP67)</a:t>
            </a:r>
            <a:endParaRPr/>
          </a:p>
        </p:txBody>
      </p:sp>
      <p:sp>
        <p:nvSpPr>
          <p:cNvPr id="152" name="Google Shape;152;p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ED4C25F-C519-FAD6-6C90-CC3717323B97}"/>
              </a:ext>
            </a:extLst>
          </p:cNvPr>
          <p:cNvSpPr>
            <a:spLocks noGrp="1"/>
          </p:cNvSpPr>
          <p:nvPr>
            <p:ph type="ftr" idx="11"/>
          </p:nvPr>
        </p:nvSpPr>
        <p:spPr/>
        <p:txBody>
          <a:bodyPr/>
          <a:lstStyle/>
          <a:p>
            <a:r>
              <a:rPr lang="en-IN"/>
              <a:t>Mini Project (ISP67)</a:t>
            </a:r>
          </a:p>
        </p:txBody>
      </p:sp>
      <p:sp>
        <p:nvSpPr>
          <p:cNvPr id="5" name="Slide Number Placeholder 4">
            <a:extLst>
              <a:ext uri="{FF2B5EF4-FFF2-40B4-BE49-F238E27FC236}">
                <a16:creationId xmlns:a16="http://schemas.microsoft.com/office/drawing/2014/main" id="{06459031-5981-EFBF-C569-6EA21A955E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7" name="TextBox 6">
            <a:extLst>
              <a:ext uri="{FF2B5EF4-FFF2-40B4-BE49-F238E27FC236}">
                <a16:creationId xmlns:a16="http://schemas.microsoft.com/office/drawing/2014/main" id="{257250D5-D744-5324-A32A-1D334F28DC19}"/>
              </a:ext>
            </a:extLst>
          </p:cNvPr>
          <p:cNvSpPr txBox="1"/>
          <p:nvPr/>
        </p:nvSpPr>
        <p:spPr>
          <a:xfrm>
            <a:off x="813816" y="393192"/>
            <a:ext cx="374904" cy="307777"/>
          </a:xfrm>
          <a:prstGeom prst="rect">
            <a:avLst/>
          </a:prstGeom>
          <a:noFill/>
        </p:spPr>
        <p:txBody>
          <a:bodyPr wrap="square" rtlCol="0">
            <a:spAutoFit/>
          </a:bodyPr>
          <a:lstStyle/>
          <a:p>
            <a:endParaRPr lang="en-IN" dirty="0"/>
          </a:p>
        </p:txBody>
      </p:sp>
      <p:sp>
        <p:nvSpPr>
          <p:cNvPr id="9" name="TextBox 8">
            <a:extLst>
              <a:ext uri="{FF2B5EF4-FFF2-40B4-BE49-F238E27FC236}">
                <a16:creationId xmlns:a16="http://schemas.microsoft.com/office/drawing/2014/main" id="{F5909773-57E4-B1AA-A4AF-DB6B4CDDDFC0}"/>
              </a:ext>
            </a:extLst>
          </p:cNvPr>
          <p:cNvSpPr txBox="1"/>
          <p:nvPr/>
        </p:nvSpPr>
        <p:spPr>
          <a:xfrm>
            <a:off x="510839" y="268265"/>
            <a:ext cx="7089966" cy="584775"/>
          </a:xfrm>
          <a:prstGeom prst="rect">
            <a:avLst/>
          </a:prstGeom>
          <a:noFill/>
        </p:spPr>
        <p:txBody>
          <a:bodyPr wrap="square">
            <a:spAutoFit/>
          </a:bodyPr>
          <a:lstStyle/>
          <a:p>
            <a:r>
              <a:rPr lang="en-US" sz="3200" b="1" dirty="0">
                <a:solidFill>
                  <a:srgbClr val="3F3F3F"/>
                </a:solidFill>
                <a:latin typeface="Times New Roman" panose="02020603050405020304" pitchFamily="18" charset="0"/>
                <a:cs typeface="Times New Roman" panose="02020603050405020304" pitchFamily="18" charset="0"/>
              </a:rPr>
              <a:t>Literature Review</a:t>
            </a:r>
            <a:endParaRPr lang="en-IN" sz="3200" b="1" dirty="0">
              <a:solidFill>
                <a:srgbClr val="3F3F3F"/>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6BB2417B-814E-3F75-0CD4-BEE86D9E6E8F}"/>
              </a:ext>
            </a:extLst>
          </p:cNvPr>
          <p:cNvGraphicFramePr>
            <a:graphicFrameLocks noGrp="1"/>
          </p:cNvGraphicFramePr>
          <p:nvPr>
            <p:extLst>
              <p:ext uri="{D42A27DB-BD31-4B8C-83A1-F6EECF244321}">
                <p14:modId xmlns:p14="http://schemas.microsoft.com/office/powerpoint/2010/main" val="2830906346"/>
              </p:ext>
            </p:extLst>
          </p:nvPr>
        </p:nvGraphicFramePr>
        <p:xfrm>
          <a:off x="595728" y="853040"/>
          <a:ext cx="11307949" cy="5186906"/>
        </p:xfrm>
        <a:graphic>
          <a:graphicData uri="http://schemas.openxmlformats.org/drawingml/2006/table">
            <a:tbl>
              <a:tblPr firstRow="1" bandRow="1">
                <a:tableStyleId>{5C22544A-7EE6-4342-B048-85BDC9FD1C3A}</a:tableStyleId>
              </a:tblPr>
              <a:tblGrid>
                <a:gridCol w="821180">
                  <a:extLst>
                    <a:ext uri="{9D8B030D-6E8A-4147-A177-3AD203B41FA5}">
                      <a16:colId xmlns:a16="http://schemas.microsoft.com/office/drawing/2014/main" val="1945094637"/>
                    </a:ext>
                  </a:extLst>
                </a:gridCol>
                <a:gridCol w="3488564">
                  <a:extLst>
                    <a:ext uri="{9D8B030D-6E8A-4147-A177-3AD203B41FA5}">
                      <a16:colId xmlns:a16="http://schemas.microsoft.com/office/drawing/2014/main" val="1342568691"/>
                    </a:ext>
                  </a:extLst>
                </a:gridCol>
                <a:gridCol w="2475025">
                  <a:extLst>
                    <a:ext uri="{9D8B030D-6E8A-4147-A177-3AD203B41FA5}">
                      <a16:colId xmlns:a16="http://schemas.microsoft.com/office/drawing/2014/main" val="206516384"/>
                    </a:ext>
                  </a:extLst>
                </a:gridCol>
                <a:gridCol w="2261590">
                  <a:extLst>
                    <a:ext uri="{9D8B030D-6E8A-4147-A177-3AD203B41FA5}">
                      <a16:colId xmlns:a16="http://schemas.microsoft.com/office/drawing/2014/main" val="2810489649"/>
                    </a:ext>
                  </a:extLst>
                </a:gridCol>
                <a:gridCol w="2261590">
                  <a:extLst>
                    <a:ext uri="{9D8B030D-6E8A-4147-A177-3AD203B41FA5}">
                      <a16:colId xmlns:a16="http://schemas.microsoft.com/office/drawing/2014/main" val="2573914542"/>
                    </a:ext>
                  </a:extLst>
                </a:gridCol>
              </a:tblGrid>
              <a:tr h="644337">
                <a:tc>
                  <a:txBody>
                    <a:bodyPr/>
                    <a:lstStyle/>
                    <a:p>
                      <a:r>
                        <a:rPr>
                          <a:latin typeface="Times New Roman" panose="02020603050405020304" pitchFamily="18" charset="0"/>
                          <a:cs typeface="Times New Roman" panose="02020603050405020304" pitchFamily="18" charset="0"/>
                        </a:rPr>
                        <a:t>Sl No</a:t>
                      </a:r>
                    </a:p>
                  </a:txBody>
                  <a:tcPr/>
                </a:tc>
                <a:tc>
                  <a:txBody>
                    <a:bodyPr/>
                    <a:lstStyle/>
                    <a:p>
                      <a:r>
                        <a:rPr dirty="0">
                          <a:latin typeface="Times New Roman" panose="02020603050405020304" pitchFamily="18" charset="0"/>
                          <a:cs typeface="Times New Roman" panose="02020603050405020304" pitchFamily="18" charset="0"/>
                        </a:rPr>
                        <a:t>Title of Paper</a:t>
                      </a:r>
                    </a:p>
                  </a:txBody>
                  <a:tcPr/>
                </a:tc>
                <a:tc>
                  <a:txBody>
                    <a:bodyPr/>
                    <a:lstStyle/>
                    <a:p>
                      <a:r>
                        <a:rPr>
                          <a:latin typeface="Times New Roman" panose="02020603050405020304" pitchFamily="18" charset="0"/>
                          <a:cs typeface="Times New Roman" panose="02020603050405020304" pitchFamily="18" charset="0"/>
                        </a:rPr>
                        <a:t>Methodology / Tools Used</a:t>
                      </a:r>
                    </a:p>
                  </a:txBody>
                  <a:tcPr/>
                </a:tc>
                <a:tc>
                  <a:txBody>
                    <a:bodyPr/>
                    <a:lstStyle/>
                    <a:p>
                      <a:r>
                        <a:rPr>
                          <a:latin typeface="Times New Roman" panose="02020603050405020304" pitchFamily="18" charset="0"/>
                          <a:cs typeface="Times New Roman" panose="02020603050405020304" pitchFamily="18" charset="0"/>
                        </a:rPr>
                        <a:t>Observation</a:t>
                      </a:r>
                    </a:p>
                  </a:txBody>
                  <a:tcPr/>
                </a:tc>
                <a:tc>
                  <a:txBody>
                    <a:bodyPr/>
                    <a:lstStyle/>
                    <a:p>
                      <a:r>
                        <a:rPr>
                          <a:latin typeface="Times New Roman" panose="02020603050405020304" pitchFamily="18" charset="0"/>
                          <a:cs typeface="Times New Roman" panose="02020603050405020304" pitchFamily="18" charset="0"/>
                        </a:rPr>
                        <a:t>Limitation</a:t>
                      </a:r>
                    </a:p>
                  </a:txBody>
                  <a:tcPr/>
                </a:tc>
                <a:extLst>
                  <a:ext uri="{0D108BD9-81ED-4DB2-BD59-A6C34878D82A}">
                    <a16:rowId xmlns:a16="http://schemas.microsoft.com/office/drawing/2014/main" val="2303310955"/>
                  </a:ext>
                </a:extLst>
              </a:tr>
              <a:tr h="998721">
                <a:tc>
                  <a:txBody>
                    <a:bodyPr/>
                    <a:lstStyle/>
                    <a:p>
                      <a:pPr algn="ctr"/>
                      <a:r>
                        <a:rPr dirty="0">
                          <a:latin typeface="Times New Roman" panose="02020603050405020304" pitchFamily="18" charset="0"/>
                          <a:cs typeface="Times New Roman" panose="02020603050405020304" pitchFamily="18" charset="0"/>
                        </a:rPr>
                        <a:t>1</a:t>
                      </a:r>
                    </a:p>
                  </a:txBody>
                  <a:tcPr/>
                </a:tc>
                <a:tc>
                  <a:txBody>
                    <a:bodyPr/>
                    <a:lstStyle/>
                    <a:p>
                      <a:r>
                        <a:rPr dirty="0">
                          <a:latin typeface="Times New Roman" panose="02020603050405020304" pitchFamily="18" charset="0"/>
                          <a:cs typeface="Times New Roman" panose="02020603050405020304" pitchFamily="18" charset="0"/>
                        </a:rPr>
                        <a:t>Retrieval-Augmented Generation</a:t>
                      </a:r>
                    </a:p>
                  </a:txBody>
                  <a:tcPr/>
                </a:tc>
                <a:tc>
                  <a:txBody>
                    <a:bodyPr/>
                    <a:lstStyle/>
                    <a:p>
                      <a:r>
                        <a:rPr>
                          <a:latin typeface="Times New Roman" panose="02020603050405020304" pitchFamily="18" charset="0"/>
                          <a:cs typeface="Times New Roman" panose="02020603050405020304" pitchFamily="18" charset="0"/>
                        </a:rPr>
                        <a:t>RAG Framework, Dense Vector Retrieval, Neural Retriever</a:t>
                      </a:r>
                    </a:p>
                  </a:txBody>
                  <a:tcPr/>
                </a:tc>
                <a:tc>
                  <a:txBody>
                    <a:bodyPr/>
                    <a:lstStyle/>
                    <a:p>
                      <a:r>
                        <a:rPr>
                          <a:latin typeface="Times New Roman" panose="02020603050405020304" pitchFamily="18" charset="0"/>
                          <a:cs typeface="Times New Roman" panose="02020603050405020304" pitchFamily="18" charset="0"/>
                        </a:rPr>
                        <a:t>Improves factual accuracy and reduces hallucinations</a:t>
                      </a:r>
                    </a:p>
                  </a:txBody>
                  <a:tcPr/>
                </a:tc>
                <a:tc>
                  <a:txBody>
                    <a:bodyPr/>
                    <a:lstStyle/>
                    <a:p>
                      <a:r>
                        <a:rPr>
                          <a:latin typeface="Times New Roman" panose="02020603050405020304" pitchFamily="18" charset="0"/>
                          <a:cs typeface="Times New Roman" panose="02020603050405020304" pitchFamily="18" charset="0"/>
                        </a:rPr>
                        <a:t>Retrieval overhead</a:t>
                      </a:r>
                    </a:p>
                  </a:txBody>
                  <a:tcPr/>
                </a:tc>
                <a:extLst>
                  <a:ext uri="{0D108BD9-81ED-4DB2-BD59-A6C34878D82A}">
                    <a16:rowId xmlns:a16="http://schemas.microsoft.com/office/drawing/2014/main" val="1767149852"/>
                  </a:ext>
                </a:extLst>
              </a:tr>
              <a:tr h="998721">
                <a:tc>
                  <a:txBody>
                    <a:bodyPr/>
                    <a:lstStyle/>
                    <a:p>
                      <a:pPr algn="ctr"/>
                      <a:r>
                        <a:rPr dirty="0">
                          <a:latin typeface="Times New Roman" panose="02020603050405020304" pitchFamily="18" charset="0"/>
                          <a:cs typeface="Times New Roman" panose="02020603050405020304" pitchFamily="18" charset="0"/>
                        </a:rPr>
                        <a:t>2</a:t>
                      </a:r>
                    </a:p>
                  </a:txBody>
                  <a:tcPr/>
                </a:tc>
                <a:tc>
                  <a:txBody>
                    <a:bodyPr/>
                    <a:lstStyle/>
                    <a:p>
                      <a:r>
                        <a:rPr>
                          <a:latin typeface="Times New Roman" panose="02020603050405020304" pitchFamily="18" charset="0"/>
                          <a:cs typeface="Times New Roman" panose="02020603050405020304" pitchFamily="18" charset="0"/>
                        </a:rPr>
                        <a:t>Classifier Chains for Multi-Label Classification</a:t>
                      </a:r>
                    </a:p>
                  </a:txBody>
                  <a:tcPr/>
                </a:tc>
                <a:tc>
                  <a:txBody>
                    <a:bodyPr/>
                    <a:lstStyle/>
                    <a:p>
                      <a:r>
                        <a:rPr>
                          <a:latin typeface="Times New Roman" panose="02020603050405020304" pitchFamily="18" charset="0"/>
                          <a:cs typeface="Times New Roman" panose="02020603050405020304" pitchFamily="18" charset="0"/>
                        </a:rPr>
                        <a:t>Classifier Chains, Multi-label Learning</a:t>
                      </a:r>
                    </a:p>
                  </a:txBody>
                  <a:tcPr/>
                </a:tc>
                <a:tc>
                  <a:txBody>
                    <a:bodyPr/>
                    <a:lstStyle/>
                    <a:p>
                      <a:r>
                        <a:rPr>
                          <a:latin typeface="Times New Roman" panose="02020603050405020304" pitchFamily="18" charset="0"/>
                          <a:cs typeface="Times New Roman" panose="02020603050405020304" pitchFamily="18" charset="0"/>
                        </a:rPr>
                        <a:t>Captures relationships between academic metrics</a:t>
                      </a:r>
                    </a:p>
                  </a:txBody>
                  <a:tcPr/>
                </a:tc>
                <a:tc>
                  <a:txBody>
                    <a:bodyPr/>
                    <a:lstStyle/>
                    <a:p>
                      <a:r>
                        <a:rPr>
                          <a:latin typeface="Times New Roman" panose="02020603050405020304" pitchFamily="18" charset="0"/>
                          <a:cs typeface="Times New Roman" panose="02020603050405020304" pitchFamily="18" charset="0"/>
                        </a:rPr>
                        <a:t>Increased model complexity</a:t>
                      </a:r>
                    </a:p>
                  </a:txBody>
                  <a:tcPr/>
                </a:tc>
                <a:extLst>
                  <a:ext uri="{0D108BD9-81ED-4DB2-BD59-A6C34878D82A}">
                    <a16:rowId xmlns:a16="http://schemas.microsoft.com/office/drawing/2014/main" val="1696106068"/>
                  </a:ext>
                </a:extLst>
              </a:tr>
              <a:tr h="998721">
                <a:tc>
                  <a:txBody>
                    <a:bodyPr/>
                    <a:lstStyle/>
                    <a:p>
                      <a:pPr algn="ctr"/>
                      <a:r>
                        <a:rPr>
                          <a:latin typeface="Times New Roman" panose="02020603050405020304" pitchFamily="18" charset="0"/>
                          <a:cs typeface="Times New Roman" panose="02020603050405020304" pitchFamily="18" charset="0"/>
                        </a:rPr>
                        <a:t>3</a:t>
                      </a:r>
                    </a:p>
                  </a:txBody>
                  <a:tcPr/>
                </a:tc>
                <a:tc>
                  <a:txBody>
                    <a:bodyPr/>
                    <a:lstStyle/>
                    <a:p>
                      <a:r>
                        <a:rPr>
                          <a:latin typeface="Times New Roman" panose="02020603050405020304" pitchFamily="18" charset="0"/>
                          <a:cs typeface="Times New Roman" panose="02020603050405020304" pitchFamily="18" charset="0"/>
                        </a:rPr>
                        <a:t>Llama Foundation Models</a:t>
                      </a:r>
                    </a:p>
                  </a:txBody>
                  <a:tcPr/>
                </a:tc>
                <a:tc>
                  <a:txBody>
                    <a:bodyPr/>
                    <a:lstStyle/>
                    <a:p>
                      <a:r>
                        <a:rPr>
                          <a:latin typeface="Times New Roman" panose="02020603050405020304" pitchFamily="18" charset="0"/>
                          <a:cs typeface="Times New Roman" panose="02020603050405020304" pitchFamily="18" charset="0"/>
                        </a:rPr>
                        <a:t>Transformer Architecture, RLHF, Prompt Engineering</a:t>
                      </a:r>
                    </a:p>
                  </a:txBody>
                  <a:tcPr/>
                </a:tc>
                <a:tc>
                  <a:txBody>
                    <a:bodyPr/>
                    <a:lstStyle/>
                    <a:p>
                      <a:r>
                        <a:rPr>
                          <a:latin typeface="Times New Roman" panose="02020603050405020304" pitchFamily="18" charset="0"/>
                          <a:cs typeface="Times New Roman" panose="02020603050405020304" pitchFamily="18" charset="0"/>
                        </a:rPr>
                        <a:t>Generates context-aware responses</a:t>
                      </a:r>
                    </a:p>
                  </a:txBody>
                  <a:tcPr/>
                </a:tc>
                <a:tc>
                  <a:txBody>
                    <a:bodyPr/>
                    <a:lstStyle/>
                    <a:p>
                      <a:r>
                        <a:rPr>
                          <a:latin typeface="Times New Roman" panose="02020603050405020304" pitchFamily="18" charset="0"/>
                          <a:cs typeface="Times New Roman" panose="02020603050405020304" pitchFamily="18" charset="0"/>
                        </a:rPr>
                        <a:t>Requires careful prompt design</a:t>
                      </a:r>
                    </a:p>
                  </a:txBody>
                  <a:tcPr/>
                </a:tc>
                <a:extLst>
                  <a:ext uri="{0D108BD9-81ED-4DB2-BD59-A6C34878D82A}">
                    <a16:rowId xmlns:a16="http://schemas.microsoft.com/office/drawing/2014/main" val="2959880098"/>
                  </a:ext>
                </a:extLst>
              </a:tr>
              <a:tr h="773203">
                <a:tc>
                  <a:txBody>
                    <a:bodyPr/>
                    <a:lstStyle/>
                    <a:p>
                      <a:pPr algn="ctr"/>
                      <a:r>
                        <a:rPr dirty="0">
                          <a:latin typeface="Times New Roman" panose="02020603050405020304" pitchFamily="18" charset="0"/>
                          <a:cs typeface="Times New Roman" panose="02020603050405020304" pitchFamily="18" charset="0"/>
                        </a:rPr>
                        <a:t>4</a:t>
                      </a:r>
                    </a:p>
                  </a:txBody>
                  <a:tcPr/>
                </a:tc>
                <a:tc>
                  <a:txBody>
                    <a:bodyPr/>
                    <a:lstStyle/>
                    <a:p>
                      <a:r>
                        <a:rPr dirty="0">
                          <a:latin typeface="Times New Roman" panose="02020603050405020304" pitchFamily="18" charset="0"/>
                          <a:cs typeface="Times New Roman" panose="02020603050405020304" pitchFamily="18" charset="0"/>
                        </a:rPr>
                        <a:t>Educational Data Mining Review</a:t>
                      </a:r>
                    </a:p>
                  </a:txBody>
                  <a:tcPr/>
                </a:tc>
                <a:tc>
                  <a:txBody>
                    <a:bodyPr/>
                    <a:lstStyle/>
                    <a:p>
                      <a:r>
                        <a:rPr dirty="0">
                          <a:latin typeface="Times New Roman" panose="02020603050405020304" pitchFamily="18" charset="0"/>
                          <a:cs typeface="Times New Roman" panose="02020603050405020304" pitchFamily="18" charset="0"/>
                        </a:rPr>
                        <a:t>Data Mining, Predictive Analytics</a:t>
                      </a:r>
                    </a:p>
                  </a:txBody>
                  <a:tcPr/>
                </a:tc>
                <a:tc>
                  <a:txBody>
                    <a:bodyPr/>
                    <a:lstStyle/>
                    <a:p>
                      <a:r>
                        <a:rPr>
                          <a:latin typeface="Times New Roman" panose="02020603050405020304" pitchFamily="18" charset="0"/>
                          <a:cs typeface="Times New Roman" panose="02020603050405020304" pitchFamily="18" charset="0"/>
                        </a:rPr>
                        <a:t>Identifies learning patterns</a:t>
                      </a:r>
                    </a:p>
                  </a:txBody>
                  <a:tcPr/>
                </a:tc>
                <a:tc>
                  <a:txBody>
                    <a:bodyPr/>
                    <a:lstStyle/>
                    <a:p>
                      <a:r>
                        <a:rPr>
                          <a:latin typeface="Times New Roman" panose="02020603050405020304" pitchFamily="18" charset="0"/>
                          <a:cs typeface="Times New Roman" panose="02020603050405020304" pitchFamily="18" charset="0"/>
                        </a:rPr>
                        <a:t>Data quality dependency</a:t>
                      </a:r>
                    </a:p>
                  </a:txBody>
                  <a:tcPr/>
                </a:tc>
                <a:extLst>
                  <a:ext uri="{0D108BD9-81ED-4DB2-BD59-A6C34878D82A}">
                    <a16:rowId xmlns:a16="http://schemas.microsoft.com/office/drawing/2014/main" val="2854663460"/>
                  </a:ext>
                </a:extLst>
              </a:tr>
              <a:tr h="773203">
                <a:tc>
                  <a:txBody>
                    <a:bodyPr/>
                    <a:lstStyle/>
                    <a:p>
                      <a:pPr algn="ctr"/>
                      <a:r>
                        <a:rPr dirty="0">
                          <a:latin typeface="Times New Roman" panose="02020603050405020304" pitchFamily="18" charset="0"/>
                          <a:cs typeface="Times New Roman" panose="02020603050405020304" pitchFamily="18" charset="0"/>
                        </a:rPr>
                        <a:t>5</a:t>
                      </a:r>
                    </a:p>
                  </a:txBody>
                  <a:tcPr/>
                </a:tc>
                <a:tc>
                  <a:txBody>
                    <a:bodyPr/>
                    <a:lstStyle/>
                    <a:p>
                      <a:r>
                        <a:rPr dirty="0">
                          <a:latin typeface="Times New Roman" panose="02020603050405020304" pitchFamily="18" charset="0"/>
                          <a:cs typeface="Times New Roman" panose="02020603050405020304" pitchFamily="18" charset="0"/>
                        </a:rPr>
                        <a:t>Automated Data Extraction in Education</a:t>
                      </a:r>
                    </a:p>
                  </a:txBody>
                  <a:tcPr/>
                </a:tc>
                <a:tc>
                  <a:txBody>
                    <a:bodyPr/>
                    <a:lstStyle/>
                    <a:p>
                      <a:r>
                        <a:rPr>
                          <a:latin typeface="Times New Roman" panose="02020603050405020304" pitchFamily="18" charset="0"/>
                          <a:cs typeface="Times New Roman" panose="02020603050405020304" pitchFamily="18" charset="0"/>
                        </a:rPr>
                        <a:t>Web Scraping, DOM Parsing</a:t>
                      </a:r>
                    </a:p>
                  </a:txBody>
                  <a:tcPr/>
                </a:tc>
                <a:tc>
                  <a:txBody>
                    <a:bodyPr/>
                    <a:lstStyle/>
                    <a:p>
                      <a:r>
                        <a:rPr>
                          <a:latin typeface="Times New Roman" panose="02020603050405020304" pitchFamily="18" charset="0"/>
                          <a:cs typeface="Times New Roman" panose="02020603050405020304" pitchFamily="18" charset="0"/>
                        </a:rPr>
                        <a:t>Automates academic data collection</a:t>
                      </a:r>
                    </a:p>
                  </a:txBody>
                  <a:tcPr/>
                </a:tc>
                <a:tc>
                  <a:txBody>
                    <a:bodyPr/>
                    <a:lstStyle/>
                    <a:p>
                      <a:r>
                        <a:rPr dirty="0">
                          <a:latin typeface="Times New Roman" panose="02020603050405020304" pitchFamily="18" charset="0"/>
                          <a:cs typeface="Times New Roman" panose="02020603050405020304" pitchFamily="18" charset="0"/>
                        </a:rPr>
                        <a:t>Portal structure changes</a:t>
                      </a:r>
                    </a:p>
                  </a:txBody>
                  <a:tcPr/>
                </a:tc>
                <a:extLst>
                  <a:ext uri="{0D108BD9-81ED-4DB2-BD59-A6C34878D82A}">
                    <a16:rowId xmlns:a16="http://schemas.microsoft.com/office/drawing/2014/main" val="2503821178"/>
                  </a:ext>
                </a:extLst>
              </a:tr>
            </a:tbl>
          </a:graphicData>
        </a:graphic>
      </p:graphicFrame>
    </p:spTree>
    <p:extLst>
      <p:ext uri="{BB962C8B-B14F-4D97-AF65-F5344CB8AC3E}">
        <p14:creationId xmlns:p14="http://schemas.microsoft.com/office/powerpoint/2010/main" val="1728988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D261D-8888-4C9A-0D5B-6235BD78098C}"/>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18B46C-604C-2E22-B09C-C8D2E4F94558}"/>
              </a:ext>
            </a:extLst>
          </p:cNvPr>
          <p:cNvSpPr>
            <a:spLocks noGrp="1"/>
          </p:cNvSpPr>
          <p:nvPr>
            <p:ph type="ftr" idx="11"/>
          </p:nvPr>
        </p:nvSpPr>
        <p:spPr/>
        <p:txBody>
          <a:bodyPr/>
          <a:lstStyle/>
          <a:p>
            <a:r>
              <a:rPr lang="en-IN"/>
              <a:t>Mini Project (ISP67)</a:t>
            </a:r>
          </a:p>
        </p:txBody>
      </p:sp>
      <p:sp>
        <p:nvSpPr>
          <p:cNvPr id="5" name="Slide Number Placeholder 4">
            <a:extLst>
              <a:ext uri="{FF2B5EF4-FFF2-40B4-BE49-F238E27FC236}">
                <a16:creationId xmlns:a16="http://schemas.microsoft.com/office/drawing/2014/main" id="{1F51910E-EF69-5B13-D850-62CF9CF4F7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graphicFrame>
        <p:nvGraphicFramePr>
          <p:cNvPr id="3" name="Table 2">
            <a:extLst>
              <a:ext uri="{FF2B5EF4-FFF2-40B4-BE49-F238E27FC236}">
                <a16:creationId xmlns:a16="http://schemas.microsoft.com/office/drawing/2014/main" id="{32DB703E-7448-0386-D015-91CA049C7B10}"/>
              </a:ext>
            </a:extLst>
          </p:cNvPr>
          <p:cNvGraphicFramePr>
            <a:graphicFrameLocks noGrp="1"/>
          </p:cNvGraphicFramePr>
          <p:nvPr>
            <p:extLst>
              <p:ext uri="{D42A27DB-BD31-4B8C-83A1-F6EECF244321}">
                <p14:modId xmlns:p14="http://schemas.microsoft.com/office/powerpoint/2010/main" val="4059253172"/>
              </p:ext>
            </p:extLst>
          </p:nvPr>
        </p:nvGraphicFramePr>
        <p:xfrm>
          <a:off x="567486" y="675502"/>
          <a:ext cx="11343290" cy="5373505"/>
        </p:xfrm>
        <a:graphic>
          <a:graphicData uri="http://schemas.openxmlformats.org/drawingml/2006/table">
            <a:tbl>
              <a:tblPr firstRow="1" bandRow="1">
                <a:tableStyleId>{5C22544A-7EE6-4342-B048-85BDC9FD1C3A}</a:tableStyleId>
              </a:tblPr>
              <a:tblGrid>
                <a:gridCol w="1040526">
                  <a:extLst>
                    <a:ext uri="{9D8B030D-6E8A-4147-A177-3AD203B41FA5}">
                      <a16:colId xmlns:a16="http://schemas.microsoft.com/office/drawing/2014/main" val="1534569157"/>
                    </a:ext>
                  </a:extLst>
                </a:gridCol>
                <a:gridCol w="3496790">
                  <a:extLst>
                    <a:ext uri="{9D8B030D-6E8A-4147-A177-3AD203B41FA5}">
                      <a16:colId xmlns:a16="http://schemas.microsoft.com/office/drawing/2014/main" val="3038801326"/>
                    </a:ext>
                  </a:extLst>
                </a:gridCol>
                <a:gridCol w="2268658">
                  <a:extLst>
                    <a:ext uri="{9D8B030D-6E8A-4147-A177-3AD203B41FA5}">
                      <a16:colId xmlns:a16="http://schemas.microsoft.com/office/drawing/2014/main" val="2317927230"/>
                    </a:ext>
                  </a:extLst>
                </a:gridCol>
                <a:gridCol w="2268658">
                  <a:extLst>
                    <a:ext uri="{9D8B030D-6E8A-4147-A177-3AD203B41FA5}">
                      <a16:colId xmlns:a16="http://schemas.microsoft.com/office/drawing/2014/main" val="2989342955"/>
                    </a:ext>
                  </a:extLst>
                </a:gridCol>
                <a:gridCol w="2268658">
                  <a:extLst>
                    <a:ext uri="{9D8B030D-6E8A-4147-A177-3AD203B41FA5}">
                      <a16:colId xmlns:a16="http://schemas.microsoft.com/office/drawing/2014/main" val="1629874364"/>
                    </a:ext>
                  </a:extLst>
                </a:gridCol>
              </a:tblGrid>
              <a:tr h="724930">
                <a:tc>
                  <a:txBody>
                    <a:bodyPr/>
                    <a:lstStyle/>
                    <a:p>
                      <a:r>
                        <a:rPr dirty="0" err="1">
                          <a:latin typeface="Times New Roman" panose="02020603050405020304" pitchFamily="18" charset="0"/>
                          <a:cs typeface="Times New Roman" panose="02020603050405020304" pitchFamily="18" charset="0"/>
                        </a:rPr>
                        <a:t>Sl</a:t>
                      </a:r>
                      <a:r>
                        <a:rPr dirty="0">
                          <a:latin typeface="Times New Roman" panose="02020603050405020304" pitchFamily="18" charset="0"/>
                          <a:cs typeface="Times New Roman" panose="02020603050405020304" pitchFamily="18" charset="0"/>
                        </a:rPr>
                        <a:t> No</a:t>
                      </a:r>
                    </a:p>
                  </a:txBody>
                  <a:tcPr/>
                </a:tc>
                <a:tc>
                  <a:txBody>
                    <a:bodyPr/>
                    <a:lstStyle/>
                    <a:p>
                      <a:r>
                        <a:rPr>
                          <a:latin typeface="Times New Roman" panose="02020603050405020304" pitchFamily="18" charset="0"/>
                          <a:cs typeface="Times New Roman" panose="02020603050405020304" pitchFamily="18" charset="0"/>
                        </a:rPr>
                        <a:t>Title of Paper</a:t>
                      </a:r>
                    </a:p>
                  </a:txBody>
                  <a:tcPr/>
                </a:tc>
                <a:tc>
                  <a:txBody>
                    <a:bodyPr/>
                    <a:lstStyle/>
                    <a:p>
                      <a:r>
                        <a:rPr>
                          <a:latin typeface="Times New Roman" panose="02020603050405020304" pitchFamily="18" charset="0"/>
                          <a:cs typeface="Times New Roman" panose="02020603050405020304" pitchFamily="18" charset="0"/>
                        </a:rPr>
                        <a:t>Methodology / Tools Used</a:t>
                      </a:r>
                    </a:p>
                  </a:txBody>
                  <a:tcPr/>
                </a:tc>
                <a:tc>
                  <a:txBody>
                    <a:bodyPr/>
                    <a:lstStyle/>
                    <a:p>
                      <a:r>
                        <a:rPr>
                          <a:latin typeface="Times New Roman" panose="02020603050405020304" pitchFamily="18" charset="0"/>
                          <a:cs typeface="Times New Roman" panose="02020603050405020304" pitchFamily="18" charset="0"/>
                        </a:rPr>
                        <a:t>Observation</a:t>
                      </a:r>
                    </a:p>
                  </a:txBody>
                  <a:tcPr/>
                </a:tc>
                <a:tc>
                  <a:txBody>
                    <a:bodyPr/>
                    <a:lstStyle/>
                    <a:p>
                      <a:r>
                        <a:rPr>
                          <a:latin typeface="Times New Roman" panose="02020603050405020304" pitchFamily="18" charset="0"/>
                          <a:cs typeface="Times New Roman" panose="02020603050405020304" pitchFamily="18" charset="0"/>
                        </a:rPr>
                        <a:t>Limitation</a:t>
                      </a:r>
                    </a:p>
                  </a:txBody>
                  <a:tcPr/>
                </a:tc>
                <a:extLst>
                  <a:ext uri="{0D108BD9-81ED-4DB2-BD59-A6C34878D82A}">
                    <a16:rowId xmlns:a16="http://schemas.microsoft.com/office/drawing/2014/main" val="1197181937"/>
                  </a:ext>
                </a:extLst>
              </a:tr>
              <a:tr h="929715">
                <a:tc>
                  <a:txBody>
                    <a:bodyPr/>
                    <a:lstStyle/>
                    <a:p>
                      <a:pPr algn="ctr"/>
                      <a:r>
                        <a:rPr>
                          <a:latin typeface="Times New Roman" panose="02020603050405020304" pitchFamily="18" charset="0"/>
                          <a:cs typeface="Times New Roman" panose="02020603050405020304" pitchFamily="18" charset="0"/>
                        </a:rPr>
                        <a:t>6</a:t>
                      </a:r>
                    </a:p>
                  </a:txBody>
                  <a:tcPr/>
                </a:tc>
                <a:tc>
                  <a:txBody>
                    <a:bodyPr/>
                    <a:lstStyle/>
                    <a:p>
                      <a:r>
                        <a:rPr>
                          <a:latin typeface="Times New Roman" panose="02020603050405020304" pitchFamily="18" charset="0"/>
                          <a:cs typeface="Times New Roman" panose="02020603050405020304" pitchFamily="18" charset="0"/>
                        </a:rPr>
                        <a:t>Generative Language Models in Pedagogy</a:t>
                      </a:r>
                    </a:p>
                  </a:txBody>
                  <a:tcPr/>
                </a:tc>
                <a:tc>
                  <a:txBody>
                    <a:bodyPr/>
                    <a:lstStyle/>
                    <a:p>
                      <a:r>
                        <a:rPr dirty="0">
                          <a:latin typeface="Times New Roman" panose="02020603050405020304" pitchFamily="18" charset="0"/>
                          <a:cs typeface="Times New Roman" panose="02020603050405020304" pitchFamily="18" charset="0"/>
                        </a:rPr>
                        <a:t>LLMs, AI Feedback Systems</a:t>
                      </a:r>
                    </a:p>
                  </a:txBody>
                  <a:tcPr/>
                </a:tc>
                <a:tc>
                  <a:txBody>
                    <a:bodyPr/>
                    <a:lstStyle/>
                    <a:p>
                      <a:r>
                        <a:rPr>
                          <a:latin typeface="Times New Roman" panose="02020603050405020304" pitchFamily="18" charset="0"/>
                          <a:cs typeface="Times New Roman" panose="02020603050405020304" pitchFamily="18" charset="0"/>
                        </a:rPr>
                        <a:t>Enhances personalized feedback</a:t>
                      </a:r>
                    </a:p>
                  </a:txBody>
                  <a:tcPr/>
                </a:tc>
                <a:tc>
                  <a:txBody>
                    <a:bodyPr/>
                    <a:lstStyle/>
                    <a:p>
                      <a:r>
                        <a:rPr dirty="0">
                          <a:latin typeface="Times New Roman" panose="02020603050405020304" pitchFamily="18" charset="0"/>
                          <a:cs typeface="Times New Roman" panose="02020603050405020304" pitchFamily="18" charset="0"/>
                        </a:rPr>
                        <a:t>Possibility of hallucination</a:t>
                      </a:r>
                    </a:p>
                  </a:txBody>
                  <a:tcPr/>
                </a:tc>
                <a:extLst>
                  <a:ext uri="{0D108BD9-81ED-4DB2-BD59-A6C34878D82A}">
                    <a16:rowId xmlns:a16="http://schemas.microsoft.com/office/drawing/2014/main" val="1706358166"/>
                  </a:ext>
                </a:extLst>
              </a:tr>
              <a:tr h="929715">
                <a:tc>
                  <a:txBody>
                    <a:bodyPr/>
                    <a:lstStyle/>
                    <a:p>
                      <a:pPr algn="ctr"/>
                      <a:r>
                        <a:rPr>
                          <a:latin typeface="Times New Roman" panose="02020603050405020304" pitchFamily="18" charset="0"/>
                          <a:cs typeface="Times New Roman" panose="02020603050405020304" pitchFamily="18" charset="0"/>
                        </a:rPr>
                        <a:t>7</a:t>
                      </a:r>
                    </a:p>
                  </a:txBody>
                  <a:tcPr/>
                </a:tc>
                <a:tc>
                  <a:txBody>
                    <a:bodyPr/>
                    <a:lstStyle/>
                    <a:p>
                      <a:r>
                        <a:rPr dirty="0">
                          <a:latin typeface="Times New Roman" panose="02020603050405020304" pitchFamily="18" charset="0"/>
                          <a:cs typeface="Times New Roman" panose="02020603050405020304" pitchFamily="18" charset="0"/>
                        </a:rPr>
                        <a:t>Analytics in Learning and Education</a:t>
                      </a:r>
                    </a:p>
                  </a:txBody>
                  <a:tcPr/>
                </a:tc>
                <a:tc>
                  <a:txBody>
                    <a:bodyPr/>
                    <a:lstStyle/>
                    <a:p>
                      <a:r>
                        <a:rPr>
                          <a:latin typeface="Times New Roman" panose="02020603050405020304" pitchFamily="18" charset="0"/>
                          <a:cs typeface="Times New Roman" panose="02020603050405020304" pitchFamily="18" charset="0"/>
                        </a:rPr>
                        <a:t>Learning Analytics, Dashboards</a:t>
                      </a:r>
                    </a:p>
                  </a:txBody>
                  <a:tcPr/>
                </a:tc>
                <a:tc>
                  <a:txBody>
                    <a:bodyPr/>
                    <a:lstStyle/>
                    <a:p>
                      <a:r>
                        <a:rPr>
                          <a:latin typeface="Times New Roman" panose="02020603050405020304" pitchFamily="18" charset="0"/>
                          <a:cs typeface="Times New Roman" panose="02020603050405020304" pitchFamily="18" charset="0"/>
                        </a:rPr>
                        <a:t>Supports proactive interventions</a:t>
                      </a:r>
                    </a:p>
                  </a:txBody>
                  <a:tcPr/>
                </a:tc>
                <a:tc>
                  <a:txBody>
                    <a:bodyPr/>
                    <a:lstStyle/>
                    <a:p>
                      <a:r>
                        <a:rPr>
                          <a:latin typeface="Times New Roman" panose="02020603050405020304" pitchFamily="18" charset="0"/>
                          <a:cs typeface="Times New Roman" panose="02020603050405020304" pitchFamily="18" charset="0"/>
                        </a:rPr>
                        <a:t>Requires continuous updates</a:t>
                      </a:r>
                    </a:p>
                  </a:txBody>
                  <a:tcPr/>
                </a:tc>
                <a:extLst>
                  <a:ext uri="{0D108BD9-81ED-4DB2-BD59-A6C34878D82A}">
                    <a16:rowId xmlns:a16="http://schemas.microsoft.com/office/drawing/2014/main" val="2298255598"/>
                  </a:ext>
                </a:extLst>
              </a:tr>
              <a:tr h="929715">
                <a:tc>
                  <a:txBody>
                    <a:bodyPr/>
                    <a:lstStyle/>
                    <a:p>
                      <a:pPr algn="ctr"/>
                      <a:r>
                        <a:rPr>
                          <a:latin typeface="Times New Roman" panose="02020603050405020304" pitchFamily="18" charset="0"/>
                          <a:cs typeface="Times New Roman" panose="02020603050405020304" pitchFamily="18" charset="0"/>
                        </a:rPr>
                        <a:t>8</a:t>
                      </a:r>
                    </a:p>
                  </a:txBody>
                  <a:tcPr/>
                </a:tc>
                <a:tc>
                  <a:txBody>
                    <a:bodyPr/>
                    <a:lstStyle/>
                    <a:p>
                      <a:r>
                        <a:rPr>
                          <a:latin typeface="Times New Roman" panose="02020603050405020304" pitchFamily="18" charset="0"/>
                          <a:cs typeface="Times New Roman" panose="02020603050405020304" pitchFamily="18" charset="0"/>
                        </a:rPr>
                        <a:t>Predictive Modeling using RNN</a:t>
                      </a:r>
                    </a:p>
                  </a:txBody>
                  <a:tcPr/>
                </a:tc>
                <a:tc>
                  <a:txBody>
                    <a:bodyPr/>
                    <a:lstStyle/>
                    <a:p>
                      <a:r>
                        <a:rPr>
                          <a:latin typeface="Times New Roman" panose="02020603050405020304" pitchFamily="18" charset="0"/>
                          <a:cs typeface="Times New Roman" panose="02020603050405020304" pitchFamily="18" charset="0"/>
                        </a:rPr>
                        <a:t>Recurrent Neural Networks</a:t>
                      </a:r>
                    </a:p>
                  </a:txBody>
                  <a:tcPr/>
                </a:tc>
                <a:tc>
                  <a:txBody>
                    <a:bodyPr/>
                    <a:lstStyle/>
                    <a:p>
                      <a:r>
                        <a:rPr>
                          <a:latin typeface="Times New Roman" panose="02020603050405020304" pitchFamily="18" charset="0"/>
                          <a:cs typeface="Times New Roman" panose="02020603050405020304" pitchFamily="18" charset="0"/>
                        </a:rPr>
                        <a:t>Predicts student trends</a:t>
                      </a:r>
                    </a:p>
                  </a:txBody>
                  <a:tcPr/>
                </a:tc>
                <a:tc>
                  <a:txBody>
                    <a:bodyPr/>
                    <a:lstStyle/>
                    <a:p>
                      <a:r>
                        <a:rPr>
                          <a:latin typeface="Times New Roman" panose="02020603050405020304" pitchFamily="18" charset="0"/>
                          <a:cs typeface="Times New Roman" panose="02020603050405020304" pitchFamily="18" charset="0"/>
                        </a:rPr>
                        <a:t>Training complexity</a:t>
                      </a:r>
                    </a:p>
                  </a:txBody>
                  <a:tcPr/>
                </a:tc>
                <a:extLst>
                  <a:ext uri="{0D108BD9-81ED-4DB2-BD59-A6C34878D82A}">
                    <a16:rowId xmlns:a16="http://schemas.microsoft.com/office/drawing/2014/main" val="3794297835"/>
                  </a:ext>
                </a:extLst>
              </a:tr>
              <a:tr h="929715">
                <a:tc>
                  <a:txBody>
                    <a:bodyPr/>
                    <a:lstStyle/>
                    <a:p>
                      <a:pPr algn="ctr"/>
                      <a:r>
                        <a:rPr>
                          <a:latin typeface="Times New Roman" panose="02020603050405020304" pitchFamily="18" charset="0"/>
                          <a:cs typeface="Times New Roman" panose="02020603050405020304" pitchFamily="18" charset="0"/>
                        </a:rPr>
                        <a:t>9</a:t>
                      </a:r>
                    </a:p>
                  </a:txBody>
                  <a:tcPr/>
                </a:tc>
                <a:tc>
                  <a:txBody>
                    <a:bodyPr/>
                    <a:lstStyle/>
                    <a:p>
                      <a:r>
                        <a:rPr>
                          <a:latin typeface="Times New Roman" panose="02020603050405020304" pitchFamily="18" charset="0"/>
                          <a:cs typeface="Times New Roman" panose="02020603050405020304" pitchFamily="18" charset="0"/>
                        </a:rPr>
                        <a:t>Attention Is All You Need</a:t>
                      </a:r>
                    </a:p>
                  </a:txBody>
                  <a:tcPr/>
                </a:tc>
                <a:tc>
                  <a:txBody>
                    <a:bodyPr/>
                    <a:lstStyle/>
                    <a:p>
                      <a:r>
                        <a:rPr>
                          <a:latin typeface="Times New Roman" panose="02020603050405020304" pitchFamily="18" charset="0"/>
                          <a:cs typeface="Times New Roman" panose="02020603050405020304" pitchFamily="18" charset="0"/>
                        </a:rPr>
                        <a:t>Transformer, Self-Attention</a:t>
                      </a:r>
                    </a:p>
                  </a:txBody>
                  <a:tcPr/>
                </a:tc>
                <a:tc>
                  <a:txBody>
                    <a:bodyPr/>
                    <a:lstStyle/>
                    <a:p>
                      <a:r>
                        <a:rPr>
                          <a:latin typeface="Times New Roman" panose="02020603050405020304" pitchFamily="18" charset="0"/>
                          <a:cs typeface="Times New Roman" panose="02020603050405020304" pitchFamily="18" charset="0"/>
                        </a:rPr>
                        <a:t>Improved contextual understanding</a:t>
                      </a:r>
                    </a:p>
                  </a:txBody>
                  <a:tcPr/>
                </a:tc>
                <a:tc>
                  <a:txBody>
                    <a:bodyPr/>
                    <a:lstStyle/>
                    <a:p>
                      <a:r>
                        <a:rPr>
                          <a:latin typeface="Times New Roman" panose="02020603050405020304" pitchFamily="18" charset="0"/>
                          <a:cs typeface="Times New Roman" panose="02020603050405020304" pitchFamily="18" charset="0"/>
                        </a:rPr>
                        <a:t>High computational cost</a:t>
                      </a:r>
                    </a:p>
                  </a:txBody>
                  <a:tcPr/>
                </a:tc>
                <a:extLst>
                  <a:ext uri="{0D108BD9-81ED-4DB2-BD59-A6C34878D82A}">
                    <a16:rowId xmlns:a16="http://schemas.microsoft.com/office/drawing/2014/main" val="2626736130"/>
                  </a:ext>
                </a:extLst>
              </a:tr>
              <a:tr h="929715">
                <a:tc>
                  <a:txBody>
                    <a:bodyPr/>
                    <a:lstStyle/>
                    <a:p>
                      <a:pPr algn="ctr"/>
                      <a:r>
                        <a:rPr dirty="0">
                          <a:latin typeface="Times New Roman" panose="02020603050405020304" pitchFamily="18" charset="0"/>
                          <a:cs typeface="Times New Roman" panose="02020603050405020304" pitchFamily="18" charset="0"/>
                        </a:rPr>
                        <a:t>10</a:t>
                      </a:r>
                    </a:p>
                  </a:txBody>
                  <a:tcPr/>
                </a:tc>
                <a:tc>
                  <a:txBody>
                    <a:bodyPr/>
                    <a:lstStyle/>
                    <a:p>
                      <a:r>
                        <a:rPr>
                          <a:latin typeface="Times New Roman" panose="02020603050405020304" pitchFamily="18" charset="0"/>
                          <a:cs typeface="Times New Roman" panose="02020603050405020304" pitchFamily="18" charset="0"/>
                        </a:rPr>
                        <a:t>Long Short-Term Memory Networks</a:t>
                      </a:r>
                    </a:p>
                  </a:txBody>
                  <a:tcPr/>
                </a:tc>
                <a:tc>
                  <a:txBody>
                    <a:bodyPr/>
                    <a:lstStyle/>
                    <a:p>
                      <a:r>
                        <a:rPr>
                          <a:latin typeface="Times New Roman" panose="02020603050405020304" pitchFamily="18" charset="0"/>
                          <a:cs typeface="Times New Roman" panose="02020603050405020304" pitchFamily="18" charset="0"/>
                        </a:rPr>
                        <a:t>LSTM, Time-Series Prediction</a:t>
                      </a:r>
                    </a:p>
                  </a:txBody>
                  <a:tcPr/>
                </a:tc>
                <a:tc>
                  <a:txBody>
                    <a:bodyPr/>
                    <a:lstStyle/>
                    <a:p>
                      <a:r>
                        <a:rPr>
                          <a:latin typeface="Times New Roman" panose="02020603050405020304" pitchFamily="18" charset="0"/>
                          <a:cs typeface="Times New Roman" panose="02020603050405020304" pitchFamily="18" charset="0"/>
                        </a:rPr>
                        <a:t>Captures long-term dependencies</a:t>
                      </a:r>
                    </a:p>
                  </a:txBody>
                  <a:tcPr/>
                </a:tc>
                <a:tc>
                  <a:txBody>
                    <a:bodyPr/>
                    <a:lstStyle/>
                    <a:p>
                      <a:r>
                        <a:rPr dirty="0">
                          <a:latin typeface="Times New Roman" panose="02020603050405020304" pitchFamily="18" charset="0"/>
                          <a:cs typeface="Times New Roman" panose="02020603050405020304" pitchFamily="18" charset="0"/>
                        </a:rPr>
                        <a:t>Slower than Transformers</a:t>
                      </a:r>
                    </a:p>
                  </a:txBody>
                  <a:tcPr/>
                </a:tc>
                <a:extLst>
                  <a:ext uri="{0D108BD9-81ED-4DB2-BD59-A6C34878D82A}">
                    <a16:rowId xmlns:a16="http://schemas.microsoft.com/office/drawing/2014/main" val="3626994124"/>
                  </a:ext>
                </a:extLst>
              </a:tr>
            </a:tbl>
          </a:graphicData>
        </a:graphic>
      </p:graphicFrame>
    </p:spTree>
    <p:extLst>
      <p:ext uri="{BB962C8B-B14F-4D97-AF65-F5344CB8AC3E}">
        <p14:creationId xmlns:p14="http://schemas.microsoft.com/office/powerpoint/2010/main" val="1090267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18A8-3860-3DF0-64C3-AC0F529AB12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56DA5F4-2315-D265-32C1-6090BEB06A9F}"/>
              </a:ext>
            </a:extLst>
          </p:cNvPr>
          <p:cNvSpPr>
            <a:spLocks noGrp="1"/>
          </p:cNvSpPr>
          <p:nvPr>
            <p:ph type="ftr" idx="11"/>
          </p:nvPr>
        </p:nvSpPr>
        <p:spPr/>
        <p:txBody>
          <a:bodyPr/>
          <a:lstStyle/>
          <a:p>
            <a:r>
              <a:rPr lang="en-IN"/>
              <a:t>Mini Project (ISP67)</a:t>
            </a:r>
          </a:p>
        </p:txBody>
      </p:sp>
      <p:sp>
        <p:nvSpPr>
          <p:cNvPr id="5" name="Slide Number Placeholder 4">
            <a:extLst>
              <a:ext uri="{FF2B5EF4-FFF2-40B4-BE49-F238E27FC236}">
                <a16:creationId xmlns:a16="http://schemas.microsoft.com/office/drawing/2014/main" id="{B0EE9708-84FF-A537-8110-1A91351E58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graphicFrame>
        <p:nvGraphicFramePr>
          <p:cNvPr id="3" name="Table 2">
            <a:extLst>
              <a:ext uri="{FF2B5EF4-FFF2-40B4-BE49-F238E27FC236}">
                <a16:creationId xmlns:a16="http://schemas.microsoft.com/office/drawing/2014/main" id="{0EB9CC3D-81B6-DA54-4BAE-CB5049B72963}"/>
              </a:ext>
            </a:extLst>
          </p:cNvPr>
          <p:cNvGraphicFramePr>
            <a:graphicFrameLocks noGrp="1"/>
          </p:cNvGraphicFramePr>
          <p:nvPr>
            <p:extLst>
              <p:ext uri="{D42A27DB-BD31-4B8C-83A1-F6EECF244321}">
                <p14:modId xmlns:p14="http://schemas.microsoft.com/office/powerpoint/2010/main" val="4125955005"/>
              </p:ext>
            </p:extLst>
          </p:nvPr>
        </p:nvGraphicFramePr>
        <p:xfrm>
          <a:off x="581051" y="664635"/>
          <a:ext cx="11413241" cy="5324271"/>
        </p:xfrm>
        <a:graphic>
          <a:graphicData uri="http://schemas.openxmlformats.org/drawingml/2006/table">
            <a:tbl>
              <a:tblPr firstRow="1" bandRow="1">
                <a:tableStyleId>{5C22544A-7EE6-4342-B048-85BDC9FD1C3A}</a:tableStyleId>
              </a:tblPr>
              <a:tblGrid>
                <a:gridCol w="989408">
                  <a:extLst>
                    <a:ext uri="{9D8B030D-6E8A-4147-A177-3AD203B41FA5}">
                      <a16:colId xmlns:a16="http://schemas.microsoft.com/office/drawing/2014/main" val="1671814113"/>
                    </a:ext>
                  </a:extLst>
                </a:gridCol>
                <a:gridCol w="3248684">
                  <a:extLst>
                    <a:ext uri="{9D8B030D-6E8A-4147-A177-3AD203B41FA5}">
                      <a16:colId xmlns:a16="http://schemas.microsoft.com/office/drawing/2014/main" val="4205139768"/>
                    </a:ext>
                  </a:extLst>
                </a:gridCol>
                <a:gridCol w="2609853">
                  <a:extLst>
                    <a:ext uri="{9D8B030D-6E8A-4147-A177-3AD203B41FA5}">
                      <a16:colId xmlns:a16="http://schemas.microsoft.com/office/drawing/2014/main" val="3454264562"/>
                    </a:ext>
                  </a:extLst>
                </a:gridCol>
                <a:gridCol w="2282648">
                  <a:extLst>
                    <a:ext uri="{9D8B030D-6E8A-4147-A177-3AD203B41FA5}">
                      <a16:colId xmlns:a16="http://schemas.microsoft.com/office/drawing/2014/main" val="2906129387"/>
                    </a:ext>
                  </a:extLst>
                </a:gridCol>
                <a:gridCol w="2282648">
                  <a:extLst>
                    <a:ext uri="{9D8B030D-6E8A-4147-A177-3AD203B41FA5}">
                      <a16:colId xmlns:a16="http://schemas.microsoft.com/office/drawing/2014/main" val="3336495687"/>
                    </a:ext>
                  </a:extLst>
                </a:gridCol>
              </a:tblGrid>
              <a:tr h="744170">
                <a:tc>
                  <a:txBody>
                    <a:bodyPr/>
                    <a:lstStyle/>
                    <a:p>
                      <a:r>
                        <a:rPr dirty="0" err="1">
                          <a:latin typeface="Times New Roman" panose="02020603050405020304" pitchFamily="18" charset="0"/>
                          <a:cs typeface="Times New Roman" panose="02020603050405020304" pitchFamily="18" charset="0"/>
                        </a:rPr>
                        <a:t>Sl</a:t>
                      </a:r>
                      <a:r>
                        <a:rPr dirty="0">
                          <a:latin typeface="Times New Roman" panose="02020603050405020304" pitchFamily="18" charset="0"/>
                          <a:cs typeface="Times New Roman" panose="02020603050405020304" pitchFamily="18" charset="0"/>
                        </a:rPr>
                        <a:t> No</a:t>
                      </a:r>
                    </a:p>
                  </a:txBody>
                  <a:tcPr/>
                </a:tc>
                <a:tc>
                  <a:txBody>
                    <a:bodyPr/>
                    <a:lstStyle/>
                    <a:p>
                      <a:r>
                        <a:rPr dirty="0">
                          <a:latin typeface="Times New Roman" panose="02020603050405020304" pitchFamily="18" charset="0"/>
                          <a:cs typeface="Times New Roman" panose="02020603050405020304" pitchFamily="18" charset="0"/>
                        </a:rPr>
                        <a:t>Title of Paper</a:t>
                      </a:r>
                    </a:p>
                  </a:txBody>
                  <a:tcPr/>
                </a:tc>
                <a:tc>
                  <a:txBody>
                    <a:bodyPr/>
                    <a:lstStyle/>
                    <a:p>
                      <a:r>
                        <a:rPr>
                          <a:latin typeface="Times New Roman" panose="02020603050405020304" pitchFamily="18" charset="0"/>
                          <a:cs typeface="Times New Roman" panose="02020603050405020304" pitchFamily="18" charset="0"/>
                        </a:rPr>
                        <a:t>Methodology / Tools Used</a:t>
                      </a:r>
                    </a:p>
                  </a:txBody>
                  <a:tcPr/>
                </a:tc>
                <a:tc>
                  <a:txBody>
                    <a:bodyPr/>
                    <a:lstStyle/>
                    <a:p>
                      <a:r>
                        <a:rPr>
                          <a:latin typeface="Times New Roman" panose="02020603050405020304" pitchFamily="18" charset="0"/>
                          <a:cs typeface="Times New Roman" panose="02020603050405020304" pitchFamily="18" charset="0"/>
                        </a:rPr>
                        <a:t>Observation</a:t>
                      </a:r>
                    </a:p>
                  </a:txBody>
                  <a:tcPr/>
                </a:tc>
                <a:tc>
                  <a:txBody>
                    <a:bodyPr/>
                    <a:lstStyle/>
                    <a:p>
                      <a:r>
                        <a:rPr>
                          <a:latin typeface="Times New Roman" panose="02020603050405020304" pitchFamily="18" charset="0"/>
                          <a:cs typeface="Times New Roman" panose="02020603050405020304" pitchFamily="18" charset="0"/>
                        </a:rPr>
                        <a:t>Limitation</a:t>
                      </a:r>
                    </a:p>
                  </a:txBody>
                  <a:tcPr/>
                </a:tc>
                <a:extLst>
                  <a:ext uri="{0D108BD9-81ED-4DB2-BD59-A6C34878D82A}">
                    <a16:rowId xmlns:a16="http://schemas.microsoft.com/office/drawing/2014/main" val="1568811597"/>
                  </a:ext>
                </a:extLst>
              </a:tr>
              <a:tr h="947607">
                <a:tc>
                  <a:txBody>
                    <a:bodyPr/>
                    <a:lstStyle/>
                    <a:p>
                      <a:pPr algn="ctr"/>
                      <a:r>
                        <a:rPr>
                          <a:latin typeface="Times New Roman" panose="02020603050405020304" pitchFamily="18" charset="0"/>
                          <a:cs typeface="Times New Roman" panose="02020603050405020304" pitchFamily="18" charset="0"/>
                        </a:rPr>
                        <a:t>11</a:t>
                      </a:r>
                    </a:p>
                  </a:txBody>
                  <a:tcPr/>
                </a:tc>
                <a:tc>
                  <a:txBody>
                    <a:bodyPr/>
                    <a:lstStyle/>
                    <a:p>
                      <a:r>
                        <a:rPr>
                          <a:latin typeface="Times New Roman" panose="02020603050405020304" pitchFamily="18" charset="0"/>
                          <a:cs typeface="Times New Roman" panose="02020603050405020304" pitchFamily="18" charset="0"/>
                        </a:rPr>
                        <a:t>Multi-Label Classification of Student Metrics</a:t>
                      </a:r>
                    </a:p>
                  </a:txBody>
                  <a:tcPr/>
                </a:tc>
                <a:tc>
                  <a:txBody>
                    <a:bodyPr/>
                    <a:lstStyle/>
                    <a:p>
                      <a:r>
                        <a:rPr>
                          <a:latin typeface="Times New Roman" panose="02020603050405020304" pitchFamily="18" charset="0"/>
                          <a:cs typeface="Times New Roman" panose="02020603050405020304" pitchFamily="18" charset="0"/>
                        </a:rPr>
                        <a:t>Behavioral Analytics</a:t>
                      </a:r>
                    </a:p>
                  </a:txBody>
                  <a:tcPr/>
                </a:tc>
                <a:tc>
                  <a:txBody>
                    <a:bodyPr/>
                    <a:lstStyle/>
                    <a:p>
                      <a:r>
                        <a:rPr>
                          <a:latin typeface="Times New Roman" panose="02020603050405020304" pitchFamily="18" charset="0"/>
                          <a:cs typeface="Times New Roman" panose="02020603050405020304" pitchFamily="18" charset="0"/>
                        </a:rPr>
                        <a:t>Provides richer student profiles</a:t>
                      </a:r>
                    </a:p>
                  </a:txBody>
                  <a:tcPr/>
                </a:tc>
                <a:tc>
                  <a:txBody>
                    <a:bodyPr/>
                    <a:lstStyle/>
                    <a:p>
                      <a:r>
                        <a:rPr>
                          <a:latin typeface="Times New Roman" panose="02020603050405020304" pitchFamily="18" charset="0"/>
                          <a:cs typeface="Times New Roman" panose="02020603050405020304" pitchFamily="18" charset="0"/>
                        </a:rPr>
                        <a:t>Complex data representation</a:t>
                      </a:r>
                    </a:p>
                  </a:txBody>
                  <a:tcPr/>
                </a:tc>
                <a:extLst>
                  <a:ext uri="{0D108BD9-81ED-4DB2-BD59-A6C34878D82A}">
                    <a16:rowId xmlns:a16="http://schemas.microsoft.com/office/drawing/2014/main" val="3884020118"/>
                  </a:ext>
                </a:extLst>
              </a:tr>
              <a:tr h="789673">
                <a:tc>
                  <a:txBody>
                    <a:bodyPr/>
                    <a:lstStyle/>
                    <a:p>
                      <a:pPr algn="ctr"/>
                      <a:r>
                        <a:rPr>
                          <a:latin typeface="Times New Roman" panose="02020603050405020304" pitchFamily="18" charset="0"/>
                          <a:cs typeface="Times New Roman" panose="02020603050405020304" pitchFamily="18" charset="0"/>
                        </a:rPr>
                        <a:t>12</a:t>
                      </a:r>
                    </a:p>
                  </a:txBody>
                  <a:tcPr/>
                </a:tc>
                <a:tc>
                  <a:txBody>
                    <a:bodyPr/>
                    <a:lstStyle/>
                    <a:p>
                      <a:r>
                        <a:rPr dirty="0">
                          <a:latin typeface="Times New Roman" panose="02020603050405020304" pitchFamily="18" charset="0"/>
                          <a:cs typeface="Times New Roman" panose="02020603050405020304" pitchFamily="18" charset="0"/>
                        </a:rPr>
                        <a:t>Microservices for Scalability</a:t>
                      </a:r>
                    </a:p>
                  </a:txBody>
                  <a:tcPr/>
                </a:tc>
                <a:tc>
                  <a:txBody>
                    <a:bodyPr/>
                    <a:lstStyle/>
                    <a:p>
                      <a:r>
                        <a:rPr>
                          <a:latin typeface="Times New Roman" panose="02020603050405020304" pitchFamily="18" charset="0"/>
                          <a:cs typeface="Times New Roman" panose="02020603050405020304" pitchFamily="18" charset="0"/>
                        </a:rPr>
                        <a:t>Service-Oriented Architecture</a:t>
                      </a:r>
                    </a:p>
                  </a:txBody>
                  <a:tcPr/>
                </a:tc>
                <a:tc>
                  <a:txBody>
                    <a:bodyPr/>
                    <a:lstStyle/>
                    <a:p>
                      <a:r>
                        <a:rPr>
                          <a:latin typeface="Times New Roman" panose="02020603050405020304" pitchFamily="18" charset="0"/>
                          <a:cs typeface="Times New Roman" panose="02020603050405020304" pitchFamily="18" charset="0"/>
                        </a:rPr>
                        <a:t>Improves scalability</a:t>
                      </a:r>
                    </a:p>
                  </a:txBody>
                  <a:tcPr/>
                </a:tc>
                <a:tc>
                  <a:txBody>
                    <a:bodyPr/>
                    <a:lstStyle/>
                    <a:p>
                      <a:r>
                        <a:rPr>
                          <a:latin typeface="Times New Roman" panose="02020603050405020304" pitchFamily="18" charset="0"/>
                          <a:cs typeface="Times New Roman" panose="02020603050405020304" pitchFamily="18" charset="0"/>
                        </a:rPr>
                        <a:t>Deployment complexity</a:t>
                      </a:r>
                    </a:p>
                  </a:txBody>
                  <a:tcPr/>
                </a:tc>
                <a:extLst>
                  <a:ext uri="{0D108BD9-81ED-4DB2-BD59-A6C34878D82A}">
                    <a16:rowId xmlns:a16="http://schemas.microsoft.com/office/drawing/2014/main" val="207998149"/>
                  </a:ext>
                </a:extLst>
              </a:tr>
              <a:tr h="947607">
                <a:tc>
                  <a:txBody>
                    <a:bodyPr/>
                    <a:lstStyle/>
                    <a:p>
                      <a:pPr algn="ctr"/>
                      <a:r>
                        <a:rPr>
                          <a:latin typeface="Times New Roman" panose="02020603050405020304" pitchFamily="18" charset="0"/>
                          <a:cs typeface="Times New Roman" panose="02020603050405020304" pitchFamily="18" charset="0"/>
                        </a:rPr>
                        <a:t>13</a:t>
                      </a:r>
                    </a:p>
                  </a:txBody>
                  <a:tcPr/>
                </a:tc>
                <a:tc>
                  <a:txBody>
                    <a:bodyPr/>
                    <a:lstStyle/>
                    <a:p>
                      <a:r>
                        <a:rPr>
                          <a:latin typeface="Times New Roman" panose="02020603050405020304" pitchFamily="18" charset="0"/>
                          <a:cs typeface="Times New Roman" panose="02020603050405020304" pitchFamily="18" charset="0"/>
                        </a:rPr>
                        <a:t>Microservices Architecture Definition</a:t>
                      </a:r>
                    </a:p>
                  </a:txBody>
                  <a:tcPr/>
                </a:tc>
                <a:tc>
                  <a:txBody>
                    <a:bodyPr/>
                    <a:lstStyle/>
                    <a:p>
                      <a:r>
                        <a:rPr>
                          <a:latin typeface="Times New Roman" panose="02020603050405020304" pitchFamily="18" charset="0"/>
                          <a:cs typeface="Times New Roman" panose="02020603050405020304" pitchFamily="18" charset="0"/>
                        </a:rPr>
                        <a:t>Distributed Systems, REST APIs</a:t>
                      </a:r>
                    </a:p>
                  </a:txBody>
                  <a:tcPr/>
                </a:tc>
                <a:tc>
                  <a:txBody>
                    <a:bodyPr/>
                    <a:lstStyle/>
                    <a:p>
                      <a:r>
                        <a:rPr>
                          <a:latin typeface="Times New Roman" panose="02020603050405020304" pitchFamily="18" charset="0"/>
                          <a:cs typeface="Times New Roman" panose="02020603050405020304" pitchFamily="18" charset="0"/>
                        </a:rPr>
                        <a:t>Enhances fault tolerance</a:t>
                      </a:r>
                    </a:p>
                  </a:txBody>
                  <a:tcPr/>
                </a:tc>
                <a:tc>
                  <a:txBody>
                    <a:bodyPr/>
                    <a:lstStyle/>
                    <a:p>
                      <a:r>
                        <a:rPr>
                          <a:latin typeface="Times New Roman" panose="02020603050405020304" pitchFamily="18" charset="0"/>
                          <a:cs typeface="Times New Roman" panose="02020603050405020304" pitchFamily="18" charset="0"/>
                        </a:rPr>
                        <a:t>Service coordination challenges</a:t>
                      </a:r>
                    </a:p>
                  </a:txBody>
                  <a:tcPr/>
                </a:tc>
                <a:extLst>
                  <a:ext uri="{0D108BD9-81ED-4DB2-BD59-A6C34878D82A}">
                    <a16:rowId xmlns:a16="http://schemas.microsoft.com/office/drawing/2014/main" val="2645127085"/>
                  </a:ext>
                </a:extLst>
              </a:tr>
              <a:tr h="947607">
                <a:tc>
                  <a:txBody>
                    <a:bodyPr/>
                    <a:lstStyle/>
                    <a:p>
                      <a:pPr algn="ctr"/>
                      <a:r>
                        <a:rPr>
                          <a:latin typeface="Times New Roman" panose="02020603050405020304" pitchFamily="18" charset="0"/>
                          <a:cs typeface="Times New Roman" panose="02020603050405020304" pitchFamily="18" charset="0"/>
                        </a:rPr>
                        <a:t>14</a:t>
                      </a:r>
                    </a:p>
                  </a:txBody>
                  <a:tcPr/>
                </a:tc>
                <a:tc>
                  <a:txBody>
                    <a:bodyPr/>
                    <a:lstStyle/>
                    <a:p>
                      <a:r>
                        <a:rPr>
                          <a:latin typeface="Times New Roman" panose="02020603050405020304" pitchFamily="18" charset="0"/>
                          <a:cs typeface="Times New Roman" panose="02020603050405020304" pitchFamily="18" charset="0"/>
                        </a:rPr>
                        <a:t>Design Patterns for Reusable Software</a:t>
                      </a:r>
                    </a:p>
                  </a:txBody>
                  <a:tcPr/>
                </a:tc>
                <a:tc>
                  <a:txBody>
                    <a:bodyPr/>
                    <a:lstStyle/>
                    <a:p>
                      <a:r>
                        <a:rPr>
                          <a:latin typeface="Times New Roman" panose="02020603050405020304" pitchFamily="18" charset="0"/>
                          <a:cs typeface="Times New Roman" panose="02020603050405020304" pitchFamily="18" charset="0"/>
                        </a:rPr>
                        <a:t>Factory, Singleton, Observer</a:t>
                      </a:r>
                    </a:p>
                  </a:txBody>
                  <a:tcPr/>
                </a:tc>
                <a:tc>
                  <a:txBody>
                    <a:bodyPr/>
                    <a:lstStyle/>
                    <a:p>
                      <a:r>
                        <a:rPr>
                          <a:latin typeface="Times New Roman" panose="02020603050405020304" pitchFamily="18" charset="0"/>
                          <a:cs typeface="Times New Roman" panose="02020603050405020304" pitchFamily="18" charset="0"/>
                        </a:rPr>
                        <a:t>Improves maintainability</a:t>
                      </a:r>
                    </a:p>
                  </a:txBody>
                  <a:tcPr/>
                </a:tc>
                <a:tc>
                  <a:txBody>
                    <a:bodyPr/>
                    <a:lstStyle/>
                    <a:p>
                      <a:r>
                        <a:rPr>
                          <a:latin typeface="Times New Roman" panose="02020603050405020304" pitchFamily="18" charset="0"/>
                          <a:cs typeface="Times New Roman" panose="02020603050405020304" pitchFamily="18" charset="0"/>
                        </a:rPr>
                        <a:t>Learning curve</a:t>
                      </a:r>
                    </a:p>
                  </a:txBody>
                  <a:tcPr/>
                </a:tc>
                <a:extLst>
                  <a:ext uri="{0D108BD9-81ED-4DB2-BD59-A6C34878D82A}">
                    <a16:rowId xmlns:a16="http://schemas.microsoft.com/office/drawing/2014/main" val="4014779266"/>
                  </a:ext>
                </a:extLst>
              </a:tr>
              <a:tr h="947607">
                <a:tc>
                  <a:txBody>
                    <a:bodyPr/>
                    <a:lstStyle/>
                    <a:p>
                      <a:pPr algn="ctr"/>
                      <a:r>
                        <a:rPr dirty="0">
                          <a:latin typeface="Times New Roman" panose="02020603050405020304" pitchFamily="18" charset="0"/>
                          <a:cs typeface="Times New Roman" panose="02020603050405020304" pitchFamily="18" charset="0"/>
                        </a:rPr>
                        <a:t>15</a:t>
                      </a:r>
                    </a:p>
                  </a:txBody>
                  <a:tcPr/>
                </a:tc>
                <a:tc>
                  <a:txBody>
                    <a:bodyPr/>
                    <a:lstStyle/>
                    <a:p>
                      <a:r>
                        <a:rPr dirty="0">
                          <a:latin typeface="Times New Roman" panose="02020603050405020304" pitchFamily="18" charset="0"/>
                          <a:cs typeface="Times New Roman" panose="02020603050405020304" pitchFamily="18" charset="0"/>
                        </a:rPr>
                        <a:t>REST Architectural Styles</a:t>
                      </a:r>
                    </a:p>
                  </a:txBody>
                  <a:tcPr/>
                </a:tc>
                <a:tc>
                  <a:txBody>
                    <a:bodyPr/>
                    <a:lstStyle/>
                    <a:p>
                      <a:r>
                        <a:rPr>
                          <a:latin typeface="Times New Roman" panose="02020603050405020304" pitchFamily="18" charset="0"/>
                          <a:cs typeface="Times New Roman" panose="02020603050405020304" pitchFamily="18" charset="0"/>
                        </a:rPr>
                        <a:t>REST APIs, Stateless Communication</a:t>
                      </a:r>
                    </a:p>
                  </a:txBody>
                  <a:tcPr/>
                </a:tc>
                <a:tc>
                  <a:txBody>
                    <a:bodyPr/>
                    <a:lstStyle/>
                    <a:p>
                      <a:r>
                        <a:rPr>
                          <a:latin typeface="Times New Roman" panose="02020603050405020304" pitchFamily="18" charset="0"/>
                          <a:cs typeface="Times New Roman" panose="02020603050405020304" pitchFamily="18" charset="0"/>
                        </a:rPr>
                        <a:t>Enables scalable web systems</a:t>
                      </a:r>
                    </a:p>
                  </a:txBody>
                  <a:tcPr/>
                </a:tc>
                <a:tc>
                  <a:txBody>
                    <a:bodyPr/>
                    <a:lstStyle/>
                    <a:p>
                      <a:r>
                        <a:rPr dirty="0">
                          <a:latin typeface="Times New Roman" panose="02020603050405020304" pitchFamily="18" charset="0"/>
                          <a:cs typeface="Times New Roman" panose="02020603050405020304" pitchFamily="18" charset="0"/>
                        </a:rPr>
                        <a:t>Network dependency</a:t>
                      </a:r>
                    </a:p>
                  </a:txBody>
                  <a:tcPr/>
                </a:tc>
                <a:extLst>
                  <a:ext uri="{0D108BD9-81ED-4DB2-BD59-A6C34878D82A}">
                    <a16:rowId xmlns:a16="http://schemas.microsoft.com/office/drawing/2014/main" val="4034384708"/>
                  </a:ext>
                </a:extLst>
              </a:tr>
            </a:tbl>
          </a:graphicData>
        </a:graphic>
      </p:graphicFrame>
    </p:spTree>
    <p:extLst>
      <p:ext uri="{BB962C8B-B14F-4D97-AF65-F5344CB8AC3E}">
        <p14:creationId xmlns:p14="http://schemas.microsoft.com/office/powerpoint/2010/main" val="2182367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10D52-48CB-DB2A-3707-00038606F961}"/>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E2E4C66-D18A-3A81-D4D8-AECAAB51A41E}"/>
              </a:ext>
            </a:extLst>
          </p:cNvPr>
          <p:cNvSpPr>
            <a:spLocks noGrp="1"/>
          </p:cNvSpPr>
          <p:nvPr>
            <p:ph type="ftr" idx="11"/>
          </p:nvPr>
        </p:nvSpPr>
        <p:spPr/>
        <p:txBody>
          <a:bodyPr/>
          <a:lstStyle/>
          <a:p>
            <a:r>
              <a:rPr lang="en-IN"/>
              <a:t>Mini Project (ISP67)</a:t>
            </a:r>
          </a:p>
        </p:txBody>
      </p:sp>
      <p:sp>
        <p:nvSpPr>
          <p:cNvPr id="5" name="Slide Number Placeholder 4">
            <a:extLst>
              <a:ext uri="{FF2B5EF4-FFF2-40B4-BE49-F238E27FC236}">
                <a16:creationId xmlns:a16="http://schemas.microsoft.com/office/drawing/2014/main" id="{5A299DF9-A7B2-8AF0-01F5-A7CACB8B00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graphicFrame>
        <p:nvGraphicFramePr>
          <p:cNvPr id="3" name="Table 2">
            <a:extLst>
              <a:ext uri="{FF2B5EF4-FFF2-40B4-BE49-F238E27FC236}">
                <a16:creationId xmlns:a16="http://schemas.microsoft.com/office/drawing/2014/main" id="{1664AFCC-537F-F4DF-BD60-8504F9F03A01}"/>
              </a:ext>
            </a:extLst>
          </p:cNvPr>
          <p:cNvGraphicFramePr>
            <a:graphicFrameLocks noGrp="1"/>
          </p:cNvGraphicFramePr>
          <p:nvPr>
            <p:extLst>
              <p:ext uri="{D42A27DB-BD31-4B8C-83A1-F6EECF244321}">
                <p14:modId xmlns:p14="http://schemas.microsoft.com/office/powerpoint/2010/main" val="2404779831"/>
              </p:ext>
            </p:extLst>
          </p:nvPr>
        </p:nvGraphicFramePr>
        <p:xfrm>
          <a:off x="591490" y="650328"/>
          <a:ext cx="11280230" cy="5287905"/>
        </p:xfrm>
        <a:graphic>
          <a:graphicData uri="http://schemas.openxmlformats.org/drawingml/2006/table">
            <a:tbl>
              <a:tblPr firstRow="1" bandRow="1">
                <a:tableStyleId>{5C22544A-7EE6-4342-B048-85BDC9FD1C3A}</a:tableStyleId>
              </a:tblPr>
              <a:tblGrid>
                <a:gridCol w="981937">
                  <a:extLst>
                    <a:ext uri="{9D8B030D-6E8A-4147-A177-3AD203B41FA5}">
                      <a16:colId xmlns:a16="http://schemas.microsoft.com/office/drawing/2014/main" val="3401812116"/>
                    </a:ext>
                  </a:extLst>
                </a:gridCol>
                <a:gridCol w="3369346">
                  <a:extLst>
                    <a:ext uri="{9D8B030D-6E8A-4147-A177-3AD203B41FA5}">
                      <a16:colId xmlns:a16="http://schemas.microsoft.com/office/drawing/2014/main" val="3666430013"/>
                    </a:ext>
                  </a:extLst>
                </a:gridCol>
                <a:gridCol w="2416855">
                  <a:extLst>
                    <a:ext uri="{9D8B030D-6E8A-4147-A177-3AD203B41FA5}">
                      <a16:colId xmlns:a16="http://schemas.microsoft.com/office/drawing/2014/main" val="908267051"/>
                    </a:ext>
                  </a:extLst>
                </a:gridCol>
                <a:gridCol w="2256046">
                  <a:extLst>
                    <a:ext uri="{9D8B030D-6E8A-4147-A177-3AD203B41FA5}">
                      <a16:colId xmlns:a16="http://schemas.microsoft.com/office/drawing/2014/main" val="273458427"/>
                    </a:ext>
                  </a:extLst>
                </a:gridCol>
                <a:gridCol w="2256046">
                  <a:extLst>
                    <a:ext uri="{9D8B030D-6E8A-4147-A177-3AD203B41FA5}">
                      <a16:colId xmlns:a16="http://schemas.microsoft.com/office/drawing/2014/main" val="2803478531"/>
                    </a:ext>
                  </a:extLst>
                </a:gridCol>
              </a:tblGrid>
              <a:tr h="741867">
                <a:tc>
                  <a:txBody>
                    <a:bodyPr/>
                    <a:lstStyle/>
                    <a:p>
                      <a:r>
                        <a:rPr dirty="0" err="1">
                          <a:latin typeface="Times New Roman" panose="02020603050405020304" pitchFamily="18" charset="0"/>
                          <a:cs typeface="Times New Roman" panose="02020603050405020304" pitchFamily="18" charset="0"/>
                        </a:rPr>
                        <a:t>Sl</a:t>
                      </a:r>
                      <a:r>
                        <a:rPr dirty="0">
                          <a:latin typeface="Times New Roman" panose="02020603050405020304" pitchFamily="18" charset="0"/>
                          <a:cs typeface="Times New Roman" panose="02020603050405020304" pitchFamily="18" charset="0"/>
                        </a:rPr>
                        <a:t> No</a:t>
                      </a:r>
                    </a:p>
                  </a:txBody>
                  <a:tcPr/>
                </a:tc>
                <a:tc>
                  <a:txBody>
                    <a:bodyPr/>
                    <a:lstStyle/>
                    <a:p>
                      <a:r>
                        <a:rPr>
                          <a:latin typeface="Times New Roman" panose="02020603050405020304" pitchFamily="18" charset="0"/>
                          <a:cs typeface="Times New Roman" panose="02020603050405020304" pitchFamily="18" charset="0"/>
                        </a:rPr>
                        <a:t>Title of Paper</a:t>
                      </a:r>
                    </a:p>
                  </a:txBody>
                  <a:tcPr/>
                </a:tc>
                <a:tc>
                  <a:txBody>
                    <a:bodyPr/>
                    <a:lstStyle/>
                    <a:p>
                      <a:r>
                        <a:rPr>
                          <a:latin typeface="Times New Roman" panose="02020603050405020304" pitchFamily="18" charset="0"/>
                          <a:cs typeface="Times New Roman" panose="02020603050405020304" pitchFamily="18" charset="0"/>
                        </a:rPr>
                        <a:t>Methodology / Tools Used</a:t>
                      </a:r>
                    </a:p>
                  </a:txBody>
                  <a:tcPr/>
                </a:tc>
                <a:tc>
                  <a:txBody>
                    <a:bodyPr/>
                    <a:lstStyle/>
                    <a:p>
                      <a:r>
                        <a:rPr>
                          <a:latin typeface="Times New Roman" panose="02020603050405020304" pitchFamily="18" charset="0"/>
                          <a:cs typeface="Times New Roman" panose="02020603050405020304" pitchFamily="18" charset="0"/>
                        </a:rPr>
                        <a:t>Observation</a:t>
                      </a:r>
                    </a:p>
                  </a:txBody>
                  <a:tcPr/>
                </a:tc>
                <a:tc>
                  <a:txBody>
                    <a:bodyPr/>
                    <a:lstStyle/>
                    <a:p>
                      <a:r>
                        <a:rPr>
                          <a:latin typeface="Times New Roman" panose="02020603050405020304" pitchFamily="18" charset="0"/>
                          <a:cs typeface="Times New Roman" panose="02020603050405020304" pitchFamily="18" charset="0"/>
                        </a:rPr>
                        <a:t>Limitation</a:t>
                      </a:r>
                    </a:p>
                  </a:txBody>
                  <a:tcPr/>
                </a:tc>
                <a:extLst>
                  <a:ext uri="{0D108BD9-81ED-4DB2-BD59-A6C34878D82A}">
                    <a16:rowId xmlns:a16="http://schemas.microsoft.com/office/drawing/2014/main" val="1460003287"/>
                  </a:ext>
                </a:extLst>
              </a:tr>
              <a:tr h="980708">
                <a:tc>
                  <a:txBody>
                    <a:bodyPr/>
                    <a:lstStyle/>
                    <a:p>
                      <a:pPr algn="ctr"/>
                      <a:r>
                        <a:rPr>
                          <a:latin typeface="Times New Roman" panose="02020603050405020304" pitchFamily="18" charset="0"/>
                          <a:cs typeface="Times New Roman" panose="02020603050405020304" pitchFamily="18" charset="0"/>
                        </a:rPr>
                        <a:t>16</a:t>
                      </a:r>
                    </a:p>
                  </a:txBody>
                  <a:tcPr/>
                </a:tc>
                <a:tc>
                  <a:txBody>
                    <a:bodyPr/>
                    <a:lstStyle/>
                    <a:p>
                      <a:r>
                        <a:rPr dirty="0">
                          <a:latin typeface="Times New Roman" panose="02020603050405020304" pitchFamily="18" charset="0"/>
                          <a:cs typeface="Times New Roman" panose="02020603050405020304" pitchFamily="18" charset="0"/>
                        </a:rPr>
                        <a:t>Security and Privacy in Web Scraping</a:t>
                      </a:r>
                    </a:p>
                  </a:txBody>
                  <a:tcPr/>
                </a:tc>
                <a:tc>
                  <a:txBody>
                    <a:bodyPr/>
                    <a:lstStyle/>
                    <a:p>
                      <a:r>
                        <a:rPr dirty="0">
                          <a:latin typeface="Times New Roman" panose="02020603050405020304" pitchFamily="18" charset="0"/>
                          <a:cs typeface="Times New Roman" panose="02020603050405020304" pitchFamily="18" charset="0"/>
                        </a:rPr>
                        <a:t>Secure Scraping, Access Control</a:t>
                      </a:r>
                    </a:p>
                  </a:txBody>
                  <a:tcPr/>
                </a:tc>
                <a:tc>
                  <a:txBody>
                    <a:bodyPr/>
                    <a:lstStyle/>
                    <a:p>
                      <a:r>
                        <a:rPr>
                          <a:latin typeface="Times New Roman" panose="02020603050405020304" pitchFamily="18" charset="0"/>
                          <a:cs typeface="Times New Roman" panose="02020603050405020304" pitchFamily="18" charset="0"/>
                        </a:rPr>
                        <a:t>Protects sensitive data</a:t>
                      </a:r>
                    </a:p>
                  </a:txBody>
                  <a:tcPr/>
                </a:tc>
                <a:tc>
                  <a:txBody>
                    <a:bodyPr/>
                    <a:lstStyle/>
                    <a:p>
                      <a:r>
                        <a:rPr>
                          <a:latin typeface="Times New Roman" panose="02020603050405020304" pitchFamily="18" charset="0"/>
                          <a:cs typeface="Times New Roman" panose="02020603050405020304" pitchFamily="18" charset="0"/>
                        </a:rPr>
                        <a:t>Ethical concerns</a:t>
                      </a:r>
                    </a:p>
                  </a:txBody>
                  <a:tcPr/>
                </a:tc>
                <a:extLst>
                  <a:ext uri="{0D108BD9-81ED-4DB2-BD59-A6C34878D82A}">
                    <a16:rowId xmlns:a16="http://schemas.microsoft.com/office/drawing/2014/main" val="4188474699"/>
                  </a:ext>
                </a:extLst>
              </a:tr>
              <a:tr h="817256">
                <a:tc>
                  <a:txBody>
                    <a:bodyPr/>
                    <a:lstStyle/>
                    <a:p>
                      <a:pPr algn="ctr"/>
                      <a:r>
                        <a:rPr>
                          <a:latin typeface="Times New Roman" panose="02020603050405020304" pitchFamily="18" charset="0"/>
                          <a:cs typeface="Times New Roman" panose="02020603050405020304" pitchFamily="18" charset="0"/>
                        </a:rPr>
                        <a:t>17</a:t>
                      </a:r>
                    </a:p>
                  </a:txBody>
                  <a:tcPr/>
                </a:tc>
                <a:tc>
                  <a:txBody>
                    <a:bodyPr/>
                    <a:lstStyle/>
                    <a:p>
                      <a:r>
                        <a:rPr>
                          <a:latin typeface="Times New Roman" panose="02020603050405020304" pitchFamily="18" charset="0"/>
                          <a:cs typeface="Times New Roman" panose="02020603050405020304" pitchFamily="18" charset="0"/>
                        </a:rPr>
                        <a:t>JSON Media Type Standard</a:t>
                      </a:r>
                    </a:p>
                  </a:txBody>
                  <a:tcPr/>
                </a:tc>
                <a:tc>
                  <a:txBody>
                    <a:bodyPr/>
                    <a:lstStyle/>
                    <a:p>
                      <a:r>
                        <a:rPr>
                          <a:latin typeface="Times New Roman" panose="02020603050405020304" pitchFamily="18" charset="0"/>
                          <a:cs typeface="Times New Roman" panose="02020603050405020304" pitchFamily="18" charset="0"/>
                        </a:rPr>
                        <a:t>JSON Data Exchange Format</a:t>
                      </a:r>
                    </a:p>
                  </a:txBody>
                  <a:tcPr/>
                </a:tc>
                <a:tc>
                  <a:txBody>
                    <a:bodyPr/>
                    <a:lstStyle/>
                    <a:p>
                      <a:r>
                        <a:rPr>
                          <a:latin typeface="Times New Roman" panose="02020603050405020304" pitchFamily="18" charset="0"/>
                          <a:cs typeface="Times New Roman" panose="02020603050405020304" pitchFamily="18" charset="0"/>
                        </a:rPr>
                        <a:t>Simplifies interoperability</a:t>
                      </a:r>
                    </a:p>
                  </a:txBody>
                  <a:tcPr/>
                </a:tc>
                <a:tc>
                  <a:txBody>
                    <a:bodyPr/>
                    <a:lstStyle/>
                    <a:p>
                      <a:r>
                        <a:rPr>
                          <a:latin typeface="Times New Roman" panose="02020603050405020304" pitchFamily="18" charset="0"/>
                          <a:cs typeface="Times New Roman" panose="02020603050405020304" pitchFamily="18" charset="0"/>
                        </a:rPr>
                        <a:t>Limited validation support</a:t>
                      </a:r>
                    </a:p>
                  </a:txBody>
                  <a:tcPr/>
                </a:tc>
                <a:extLst>
                  <a:ext uri="{0D108BD9-81ED-4DB2-BD59-A6C34878D82A}">
                    <a16:rowId xmlns:a16="http://schemas.microsoft.com/office/drawing/2014/main" val="117753247"/>
                  </a:ext>
                </a:extLst>
              </a:tr>
              <a:tr h="980708">
                <a:tc>
                  <a:txBody>
                    <a:bodyPr/>
                    <a:lstStyle/>
                    <a:p>
                      <a:pPr algn="ctr"/>
                      <a:r>
                        <a:rPr>
                          <a:latin typeface="Times New Roman" panose="02020603050405020304" pitchFamily="18" charset="0"/>
                          <a:cs typeface="Times New Roman" panose="02020603050405020304" pitchFamily="18" charset="0"/>
                        </a:rPr>
                        <a:t>18</a:t>
                      </a:r>
                    </a:p>
                  </a:txBody>
                  <a:tcPr/>
                </a:tc>
                <a:tc>
                  <a:txBody>
                    <a:bodyPr/>
                    <a:lstStyle/>
                    <a:p>
                      <a:r>
                        <a:rPr dirty="0">
                          <a:latin typeface="Times New Roman" panose="02020603050405020304" pitchFamily="18" charset="0"/>
                          <a:cs typeface="Times New Roman" panose="02020603050405020304" pitchFamily="18" charset="0"/>
                        </a:rPr>
                        <a:t>RESTful Service Performance Evaluation</a:t>
                      </a:r>
                    </a:p>
                  </a:txBody>
                  <a:tcPr/>
                </a:tc>
                <a:tc>
                  <a:txBody>
                    <a:bodyPr/>
                    <a:lstStyle/>
                    <a:p>
                      <a:r>
                        <a:rPr>
                          <a:latin typeface="Times New Roman" panose="02020603050405020304" pitchFamily="18" charset="0"/>
                          <a:cs typeface="Times New Roman" panose="02020603050405020304" pitchFamily="18" charset="0"/>
                        </a:rPr>
                        <a:t>Caching, Connection Pooling</a:t>
                      </a:r>
                    </a:p>
                  </a:txBody>
                  <a:tcPr/>
                </a:tc>
                <a:tc>
                  <a:txBody>
                    <a:bodyPr/>
                    <a:lstStyle/>
                    <a:p>
                      <a:r>
                        <a:rPr>
                          <a:latin typeface="Times New Roman" panose="02020603050405020304" pitchFamily="18" charset="0"/>
                          <a:cs typeface="Times New Roman" panose="02020603050405020304" pitchFamily="18" charset="0"/>
                        </a:rPr>
                        <a:t>Improves response time</a:t>
                      </a:r>
                    </a:p>
                  </a:txBody>
                  <a:tcPr/>
                </a:tc>
                <a:tc>
                  <a:txBody>
                    <a:bodyPr/>
                    <a:lstStyle/>
                    <a:p>
                      <a:r>
                        <a:rPr>
                          <a:latin typeface="Times New Roman" panose="02020603050405020304" pitchFamily="18" charset="0"/>
                          <a:cs typeface="Times New Roman" panose="02020603050405020304" pitchFamily="18" charset="0"/>
                        </a:rPr>
                        <a:t>Infrastructure overhead</a:t>
                      </a:r>
                    </a:p>
                  </a:txBody>
                  <a:tcPr/>
                </a:tc>
                <a:extLst>
                  <a:ext uri="{0D108BD9-81ED-4DB2-BD59-A6C34878D82A}">
                    <a16:rowId xmlns:a16="http://schemas.microsoft.com/office/drawing/2014/main" val="3849737178"/>
                  </a:ext>
                </a:extLst>
              </a:tr>
              <a:tr h="980708">
                <a:tc>
                  <a:txBody>
                    <a:bodyPr/>
                    <a:lstStyle/>
                    <a:p>
                      <a:pPr algn="ctr"/>
                      <a:r>
                        <a:rPr>
                          <a:latin typeface="Times New Roman" panose="02020603050405020304" pitchFamily="18" charset="0"/>
                          <a:cs typeface="Times New Roman" panose="02020603050405020304" pitchFamily="18" charset="0"/>
                        </a:rPr>
                        <a:t>19</a:t>
                      </a:r>
                    </a:p>
                  </a:txBody>
                  <a:tcPr/>
                </a:tc>
                <a:tc>
                  <a:txBody>
                    <a:bodyPr/>
                    <a:lstStyle/>
                    <a:p>
                      <a:r>
                        <a:rPr>
                          <a:latin typeface="Times New Roman" panose="02020603050405020304" pitchFamily="18" charset="0"/>
                          <a:cs typeface="Times New Roman" panose="02020603050405020304" pitchFamily="18" charset="0"/>
                        </a:rPr>
                        <a:t>LLMs in Academic Feedback Generation</a:t>
                      </a:r>
                    </a:p>
                  </a:txBody>
                  <a:tcPr/>
                </a:tc>
                <a:tc>
                  <a:txBody>
                    <a:bodyPr/>
                    <a:lstStyle/>
                    <a:p>
                      <a:r>
                        <a:rPr>
                          <a:latin typeface="Times New Roman" panose="02020603050405020304" pitchFamily="18" charset="0"/>
                          <a:cs typeface="Times New Roman" panose="02020603050405020304" pitchFamily="18" charset="0"/>
                        </a:rPr>
                        <a:t>Prompt Engineering, Context Injection</a:t>
                      </a:r>
                    </a:p>
                  </a:txBody>
                  <a:tcPr/>
                </a:tc>
                <a:tc>
                  <a:txBody>
                    <a:bodyPr/>
                    <a:lstStyle/>
                    <a:p>
                      <a:r>
                        <a:rPr>
                          <a:latin typeface="Times New Roman" panose="02020603050405020304" pitchFamily="18" charset="0"/>
                          <a:cs typeface="Times New Roman" panose="02020603050405020304" pitchFamily="18" charset="0"/>
                        </a:rPr>
                        <a:t>Produces meaningful feedback</a:t>
                      </a:r>
                    </a:p>
                  </a:txBody>
                  <a:tcPr/>
                </a:tc>
                <a:tc>
                  <a:txBody>
                    <a:bodyPr/>
                    <a:lstStyle/>
                    <a:p>
                      <a:r>
                        <a:rPr>
                          <a:latin typeface="Times New Roman" panose="02020603050405020304" pitchFamily="18" charset="0"/>
                          <a:cs typeface="Times New Roman" panose="02020603050405020304" pitchFamily="18" charset="0"/>
                        </a:rPr>
                        <a:t>Risk of inaccurate responses</a:t>
                      </a:r>
                    </a:p>
                  </a:txBody>
                  <a:tcPr/>
                </a:tc>
                <a:extLst>
                  <a:ext uri="{0D108BD9-81ED-4DB2-BD59-A6C34878D82A}">
                    <a16:rowId xmlns:a16="http://schemas.microsoft.com/office/drawing/2014/main" val="2929092312"/>
                  </a:ext>
                </a:extLst>
              </a:tr>
              <a:tr h="786658">
                <a:tc>
                  <a:txBody>
                    <a:bodyPr/>
                    <a:lstStyle/>
                    <a:p>
                      <a:pPr algn="ctr"/>
                      <a:r>
                        <a:rPr dirty="0">
                          <a:latin typeface="Times New Roman" panose="02020603050405020304" pitchFamily="18" charset="0"/>
                          <a:cs typeface="Times New Roman" panose="02020603050405020304" pitchFamily="18" charset="0"/>
                        </a:rPr>
                        <a:t>20</a:t>
                      </a:r>
                    </a:p>
                  </a:txBody>
                  <a:tcPr/>
                </a:tc>
                <a:tc>
                  <a:txBody>
                    <a:bodyPr/>
                    <a:lstStyle/>
                    <a:p>
                      <a:r>
                        <a:rPr>
                          <a:latin typeface="Times New Roman" panose="02020603050405020304" pitchFamily="18" charset="0"/>
                          <a:cs typeface="Times New Roman" panose="02020603050405020304" pitchFamily="18" charset="0"/>
                        </a:rPr>
                        <a:t>Database Systems: The Complete Book</a:t>
                      </a:r>
                    </a:p>
                  </a:txBody>
                  <a:tcPr/>
                </a:tc>
                <a:tc>
                  <a:txBody>
                    <a:bodyPr/>
                    <a:lstStyle/>
                    <a:p>
                      <a:r>
                        <a:rPr>
                          <a:latin typeface="Times New Roman" panose="02020603050405020304" pitchFamily="18" charset="0"/>
                          <a:cs typeface="Times New Roman" panose="02020603050405020304" pitchFamily="18" charset="0"/>
                        </a:rPr>
                        <a:t>Normalization, Indexing, SQL</a:t>
                      </a:r>
                    </a:p>
                  </a:txBody>
                  <a:tcPr/>
                </a:tc>
                <a:tc>
                  <a:txBody>
                    <a:bodyPr/>
                    <a:lstStyle/>
                    <a:p>
                      <a:r>
                        <a:rPr>
                          <a:latin typeface="Times New Roman" panose="02020603050405020304" pitchFamily="18" charset="0"/>
                          <a:cs typeface="Times New Roman" panose="02020603050405020304" pitchFamily="18" charset="0"/>
                        </a:rPr>
                        <a:t>Supports data integrity</a:t>
                      </a:r>
                    </a:p>
                  </a:txBody>
                  <a:tcPr/>
                </a:tc>
                <a:tc>
                  <a:txBody>
                    <a:bodyPr/>
                    <a:lstStyle/>
                    <a:p>
                      <a:r>
                        <a:rPr dirty="0">
                          <a:latin typeface="Times New Roman" panose="02020603050405020304" pitchFamily="18" charset="0"/>
                          <a:cs typeface="Times New Roman" panose="02020603050405020304" pitchFamily="18" charset="0"/>
                        </a:rPr>
                        <a:t>Database management complexity</a:t>
                      </a:r>
                    </a:p>
                  </a:txBody>
                  <a:tcPr/>
                </a:tc>
                <a:extLst>
                  <a:ext uri="{0D108BD9-81ED-4DB2-BD59-A6C34878D82A}">
                    <a16:rowId xmlns:a16="http://schemas.microsoft.com/office/drawing/2014/main" val="4260846973"/>
                  </a:ext>
                </a:extLst>
              </a:tr>
            </a:tbl>
          </a:graphicData>
        </a:graphic>
      </p:graphicFrame>
    </p:spTree>
    <p:extLst>
      <p:ext uri="{BB962C8B-B14F-4D97-AF65-F5344CB8AC3E}">
        <p14:creationId xmlns:p14="http://schemas.microsoft.com/office/powerpoint/2010/main" val="1741376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D2B992-A732-5E54-C815-2878664D6BC7}"/>
              </a:ext>
            </a:extLst>
          </p:cNvPr>
          <p:cNvPicPr>
            <a:picLocks noChangeAspect="1"/>
          </p:cNvPicPr>
          <p:nvPr/>
        </p:nvPicPr>
        <p:blipFill>
          <a:blip r:embed="rId2"/>
          <a:stretch>
            <a:fillRect/>
          </a:stretch>
        </p:blipFill>
        <p:spPr>
          <a:xfrm>
            <a:off x="691299" y="1187970"/>
            <a:ext cx="10628302" cy="5103737"/>
          </a:xfrm>
          <a:prstGeom prst="rect">
            <a:avLst/>
          </a:prstGeom>
        </p:spPr>
      </p:pic>
      <p:sp>
        <p:nvSpPr>
          <p:cNvPr id="2" name="Title 1"/>
          <p:cNvSpPr>
            <a:spLocks noGrp="1"/>
          </p:cNvSpPr>
          <p:nvPr>
            <p:ph type="title"/>
          </p:nvPr>
        </p:nvSpPr>
        <p:spPr>
          <a:xfrm>
            <a:off x="604964" y="278163"/>
            <a:ext cx="10108025" cy="1099463"/>
          </a:xfrm>
        </p:spPr>
        <p:txBody>
          <a:bodyPr/>
          <a:lstStyle/>
          <a:p>
            <a:r>
              <a:rPr lang="en-US"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flipV="1">
            <a:off x="156520" y="5428735"/>
            <a:ext cx="304800" cy="216580"/>
          </a:xfrm>
        </p:spPr>
        <p:txBody>
          <a:bodyPr>
            <a:normAutofit fontScale="25000" lnSpcReduction="20000"/>
          </a:bodyPr>
          <a:lstStyle/>
          <a:p>
            <a:pPr marL="114300" indent="0">
              <a:buNone/>
            </a:pPr>
            <a:r>
              <a:rPr lang="en-US" dirty="0"/>
              <a:t> </a:t>
            </a: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5" name="Footer Placeholder 4"/>
          <p:cNvSpPr>
            <a:spLocks noGrp="1"/>
          </p:cNvSpPr>
          <p:nvPr>
            <p:ph type="ftr" idx="11"/>
          </p:nvPr>
        </p:nvSpPr>
        <p:spPr/>
        <p:txBody>
          <a:bodyPr/>
          <a:lstStyle/>
          <a:p>
            <a:r>
              <a:rPr lang="en-IN"/>
              <a:t>Mini Project (ISP67)</a:t>
            </a:r>
          </a:p>
        </p:txBody>
      </p:sp>
      <p:sp>
        <p:nvSpPr>
          <p:cNvPr id="8" name="TextBox 7">
            <a:extLst>
              <a:ext uri="{FF2B5EF4-FFF2-40B4-BE49-F238E27FC236}">
                <a16:creationId xmlns:a16="http://schemas.microsoft.com/office/drawing/2014/main" id="{1FF8BBFB-F748-BDB8-3929-24EF8744AE58}"/>
              </a:ext>
            </a:extLst>
          </p:cNvPr>
          <p:cNvSpPr txBox="1"/>
          <p:nvPr/>
        </p:nvSpPr>
        <p:spPr>
          <a:xfrm>
            <a:off x="3048000" y="-490772"/>
            <a:ext cx="6096000" cy="307777"/>
          </a:xfrm>
          <a:prstGeom prst="rect">
            <a:avLst/>
          </a:prstGeom>
          <a:noFill/>
        </p:spPr>
        <p:txBody>
          <a:bodyPr wrap="square">
            <a:spAutoFit/>
          </a:bodyPr>
          <a:lstStyle/>
          <a:p>
            <a:endParaRPr lang="en-IN" dirty="0"/>
          </a:p>
        </p:txBody>
      </p:sp>
    </p:spTree>
    <p:extLst>
      <p:ext uri="{BB962C8B-B14F-4D97-AF65-F5344CB8AC3E}">
        <p14:creationId xmlns:p14="http://schemas.microsoft.com/office/powerpoint/2010/main" val="1779455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7ACDD-7BFA-0B01-FF66-5AC7C42FDEC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 and Discussion</a:t>
            </a:r>
          </a:p>
        </p:txBody>
      </p:sp>
      <p:sp>
        <p:nvSpPr>
          <p:cNvPr id="3" name="Text Placeholder 2">
            <a:extLst>
              <a:ext uri="{FF2B5EF4-FFF2-40B4-BE49-F238E27FC236}">
                <a16:creationId xmlns:a16="http://schemas.microsoft.com/office/drawing/2014/main" id="{9DF6B04F-7E2D-2990-2DC5-10281611CBA6}"/>
              </a:ext>
            </a:extLst>
          </p:cNvPr>
          <p:cNvSpPr>
            <a:spLocks noGrp="1"/>
          </p:cNvSpPr>
          <p:nvPr>
            <p:ph type="body" idx="1"/>
          </p:nvPr>
        </p:nvSpPr>
        <p:spPr/>
        <p:txBody>
          <a:bodyPr/>
          <a:lstStyle/>
          <a:p>
            <a:pPr marL="571500" indent="-457200">
              <a:buFont typeface="+mj-lt"/>
              <a:buAutoNum type="arabicPeriod"/>
            </a:pPr>
            <a:r>
              <a:rPr lang="en-IN" dirty="0">
                <a:latin typeface="Times New Roman" panose="02020603050405020304" pitchFamily="18" charset="0"/>
                <a:cs typeface="Times New Roman" panose="02020603050405020304" pitchFamily="18" charset="0"/>
              </a:rPr>
              <a:t>Automated Student Data Collection</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Performance Analysis Dashboard</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Professional Report Generation</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RAG-Based Proctor Assistant</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Enhanced Student Monitoring</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Automated Parent Communication</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Secure and Scalable System Architecture</a:t>
            </a:r>
            <a:r>
              <a:rPr lang="en-IN" dirty="0"/>
              <a:t>	</a:t>
            </a:r>
          </a:p>
          <a:p>
            <a:pPr marL="571500" indent="-457200">
              <a:buFont typeface="+mj-lt"/>
              <a:buAutoNum type="arabicPeriod"/>
            </a:pPr>
            <a:endParaRPr lang="en-IN" dirty="0"/>
          </a:p>
          <a:p>
            <a:endParaRPr lang="en-IN" dirty="0"/>
          </a:p>
        </p:txBody>
      </p:sp>
      <p:sp>
        <p:nvSpPr>
          <p:cNvPr id="4" name="Footer Placeholder 3">
            <a:extLst>
              <a:ext uri="{FF2B5EF4-FFF2-40B4-BE49-F238E27FC236}">
                <a16:creationId xmlns:a16="http://schemas.microsoft.com/office/drawing/2014/main" id="{ADD5F4A1-C4F1-F198-29D7-0A3E12EF8221}"/>
              </a:ext>
            </a:extLst>
          </p:cNvPr>
          <p:cNvSpPr>
            <a:spLocks noGrp="1"/>
          </p:cNvSpPr>
          <p:nvPr>
            <p:ph type="ftr" idx="11"/>
          </p:nvPr>
        </p:nvSpPr>
        <p:spPr/>
        <p:txBody>
          <a:bodyPr/>
          <a:lstStyle/>
          <a:p>
            <a:r>
              <a:rPr lang="en-IN"/>
              <a:t>Mini Project (ISP67)</a:t>
            </a:r>
          </a:p>
        </p:txBody>
      </p:sp>
      <p:sp>
        <p:nvSpPr>
          <p:cNvPr id="5" name="Slide Number Placeholder 4">
            <a:extLst>
              <a:ext uri="{FF2B5EF4-FFF2-40B4-BE49-F238E27FC236}">
                <a16:creationId xmlns:a16="http://schemas.microsoft.com/office/drawing/2014/main" id="{5B7FA97B-DFB7-989B-DE7E-2705483148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4249636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r>
              <a:rPr dirty="0">
                <a:latin typeface="Times New Roman" panose="02020603050405020304" pitchFamily="18" charset="0"/>
                <a:cs typeface="Times New Roman" panose="02020603050405020304" pitchFamily="18" charset="0"/>
              </a:rPr>
              <a:t>Conclusion</a:t>
            </a:r>
          </a:p>
        </p:txBody>
      </p:sp>
      <p:sp>
        <p:nvSpPr>
          <p:cNvPr id="170" name="Google Shape;170;p10"/>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fontScale="92500" lnSpcReduction="10000"/>
          </a:bodyPr>
          <a:lstStyle/>
          <a:p>
            <a:pPr marL="571500" indent="-457200">
              <a:buFont typeface="+mj-lt"/>
              <a:buAutoNum type="arabicPeriod"/>
            </a:pPr>
            <a:r>
              <a:rPr lang="en-IN" dirty="0">
                <a:latin typeface="Times New Roman" panose="02020603050405020304" pitchFamily="18" charset="0"/>
                <a:cs typeface="Times New Roman" panose="02020603050405020304" pitchFamily="18" charset="0"/>
              </a:rPr>
              <a:t>Successfully automated the academic evaluation and reporting process.</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Reduced manual effort and administrative workload for educators.</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Implemented an AI-powered platform for intelligent academic analytics.</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Integrated RAG, Gemini, and Llama 3.1 for contextual insight generation.</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Enabled natural language querying through the Proctor Assistant.</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Generated personalized and actionable student performance reports.</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Improved scalability and performance using a modern microservice architecture.</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Enhanced academic monitoring and decision-making through data-driven insights.</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Provided a secure and user-friendly system for students and proctors.</a:t>
            </a:r>
          </a:p>
          <a:p>
            <a:pPr marL="571500" indent="-457200">
              <a:buFont typeface="+mj-lt"/>
              <a:buAutoNum type="arabicPeriod"/>
            </a:pPr>
            <a:r>
              <a:rPr lang="en-IN" dirty="0">
                <a:latin typeface="Times New Roman" panose="02020603050405020304" pitchFamily="18" charset="0"/>
                <a:cs typeface="Times New Roman" panose="02020603050405020304" pitchFamily="18" charset="0"/>
              </a:rPr>
              <a:t>Established a foundation for future AI-driven educational analytics solutions.</a:t>
            </a:r>
          </a:p>
          <a:p>
            <a:endParaRPr dirty="0"/>
          </a:p>
        </p:txBody>
      </p:sp>
      <p:sp>
        <p:nvSpPr>
          <p:cNvPr id="2" name="Footer Placeholder 1"/>
          <p:cNvSpPr>
            <a:spLocks noGrp="1"/>
          </p:cNvSpPr>
          <p:nvPr>
            <p:ph type="ftr" idx="11"/>
          </p:nvPr>
        </p:nvSpPr>
        <p:spPr/>
        <p:txBody>
          <a:bodyPr/>
          <a:lstStyle/>
          <a:p>
            <a:r>
              <a:rPr lang="en-IN"/>
              <a:t>Mini Project (ISP67)</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9"/>
          <p:cNvSpPr txBox="1">
            <a:spLocks noGrp="1"/>
          </p:cNvSpPr>
          <p:nvPr>
            <p:ph type="title"/>
          </p:nvPr>
        </p:nvSpPr>
        <p:spPr>
          <a:xfrm>
            <a:off x="1097280" y="286603"/>
            <a:ext cx="10130480" cy="1419865"/>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dirty="0">
                <a:latin typeface="Times New Roman" panose="02020603050405020304" pitchFamily="18" charset="0"/>
                <a:cs typeface="Times New Roman" panose="02020603050405020304" pitchFamily="18" charset="0"/>
              </a:rPr>
              <a:t>REFERENCES</a:t>
            </a:r>
            <a:endParaRPr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idx="11"/>
          </p:nvPr>
        </p:nvSpPr>
        <p:spPr/>
        <p:txBody>
          <a:bodyPr/>
          <a:lstStyle/>
          <a:p>
            <a:r>
              <a:rPr lang="en-IN"/>
              <a:t>Mini Project (ISP67)</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5" name="Rectangle 2">
            <a:extLst>
              <a:ext uri="{FF2B5EF4-FFF2-40B4-BE49-F238E27FC236}">
                <a16:creationId xmlns:a16="http://schemas.microsoft.com/office/drawing/2014/main" id="{C737C45E-FB31-F454-F839-814F8C6E353C}"/>
              </a:ext>
            </a:extLst>
          </p:cNvPr>
          <p:cNvSpPr>
            <a:spLocks noGrp="1" noChangeArrowheads="1"/>
          </p:cNvSpPr>
          <p:nvPr>
            <p:ph type="body" idx="1"/>
          </p:nvPr>
        </p:nvSpPr>
        <p:spPr bwMode="auto">
          <a:xfrm>
            <a:off x="1097280" y="1970840"/>
            <a:ext cx="9492379"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600" dirty="0">
                <a:latin typeface="Times New Roman" panose="02020603050405020304" pitchFamily="18" charset="0"/>
                <a:cs typeface="Times New Roman" panose="02020603050405020304" pitchFamily="18" charset="0"/>
              </a:rPr>
              <a:t>[1] Lewis et al., Retrieval-Augmented Generation for Knowledge-Intensive NLP Tasks (2020)</a:t>
            </a:r>
          </a:p>
          <a:p>
            <a:r>
              <a:rPr lang="en-IN" sz="1600" dirty="0">
                <a:latin typeface="Times New Roman" panose="02020603050405020304" pitchFamily="18" charset="0"/>
                <a:cs typeface="Times New Roman" panose="02020603050405020304" pitchFamily="18" charset="0"/>
              </a:rPr>
              <a:t>[2] Read et al., Classifier Chains for Multi-Label Classification (2011)</a:t>
            </a:r>
          </a:p>
          <a:p>
            <a:r>
              <a:rPr lang="en-IN" sz="1600" dirty="0">
                <a:latin typeface="Times New Roman" panose="02020603050405020304" pitchFamily="18" charset="0"/>
                <a:cs typeface="Times New Roman" panose="02020603050405020304" pitchFamily="18" charset="0"/>
              </a:rPr>
              <a:t>[3] </a:t>
            </a:r>
            <a:r>
              <a:rPr lang="en-IN" sz="1600" dirty="0" err="1">
                <a:latin typeface="Times New Roman" panose="02020603050405020304" pitchFamily="18" charset="0"/>
                <a:cs typeface="Times New Roman" panose="02020603050405020304" pitchFamily="18" charset="0"/>
              </a:rPr>
              <a:t>Touvron</a:t>
            </a:r>
            <a:r>
              <a:rPr lang="en-IN" sz="1600" dirty="0">
                <a:latin typeface="Times New Roman" panose="02020603050405020304" pitchFamily="18" charset="0"/>
                <a:cs typeface="Times New Roman" panose="02020603050405020304" pitchFamily="18" charset="0"/>
              </a:rPr>
              <a:t> et al., Llama 2: Open Foundation and Fine-Tuned Chat Models (2023)</a:t>
            </a:r>
          </a:p>
          <a:p>
            <a:r>
              <a:rPr lang="en-IN" sz="1600" dirty="0">
                <a:latin typeface="Times New Roman" panose="02020603050405020304" pitchFamily="18" charset="0"/>
                <a:cs typeface="Times New Roman" panose="02020603050405020304" pitchFamily="18" charset="0"/>
              </a:rPr>
              <a:t>[4] Romero &amp; Ventura, Educational Data Mining: A Review of the State of the Art (2010)</a:t>
            </a:r>
          </a:p>
          <a:p>
            <a:r>
              <a:rPr lang="en-IN" sz="1600" dirty="0">
                <a:latin typeface="Times New Roman" panose="02020603050405020304" pitchFamily="18" charset="0"/>
                <a:cs typeface="Times New Roman" panose="02020603050405020304" pitchFamily="18" charset="0"/>
              </a:rPr>
              <a:t>[5] Smith et al., Automated Data Extraction in Educational Environments (2021)</a:t>
            </a:r>
          </a:p>
          <a:p>
            <a:r>
              <a:rPr lang="en-IN" sz="1600" dirty="0">
                <a:latin typeface="Times New Roman" panose="02020603050405020304" pitchFamily="18" charset="0"/>
                <a:cs typeface="Times New Roman" panose="02020603050405020304" pitchFamily="18" charset="0"/>
              </a:rPr>
              <a:t>[6] Gupta et al., Generative Language Models in Pedagogy (2023)</a:t>
            </a:r>
          </a:p>
          <a:p>
            <a:r>
              <a:rPr lang="en-IN" sz="1600" dirty="0">
                <a:latin typeface="Times New Roman" panose="02020603050405020304" pitchFamily="18" charset="0"/>
                <a:cs typeface="Times New Roman" panose="02020603050405020304" pitchFamily="18" charset="0"/>
              </a:rPr>
              <a:t>[7] Siemens &amp; Long, Penetrating the Fog: Analytics in Learning and Education (2011)</a:t>
            </a:r>
          </a:p>
          <a:p>
            <a:r>
              <a:rPr lang="en-IN" sz="1600" dirty="0">
                <a:latin typeface="Times New Roman" panose="02020603050405020304" pitchFamily="18" charset="0"/>
                <a:cs typeface="Times New Roman" panose="02020603050405020304" pitchFamily="18" charset="0"/>
              </a:rPr>
              <a:t>[8] Johnson &amp; Lee, Predictive </a:t>
            </a:r>
            <a:r>
              <a:rPr lang="en-IN" sz="1600" dirty="0" err="1">
                <a:latin typeface="Times New Roman" panose="02020603050405020304" pitchFamily="18" charset="0"/>
                <a:cs typeface="Times New Roman" panose="02020603050405020304" pitchFamily="18" charset="0"/>
              </a:rPr>
              <a:t>Modeling</a:t>
            </a:r>
            <a:r>
              <a:rPr lang="en-IN" sz="1600" dirty="0">
                <a:latin typeface="Times New Roman" panose="02020603050405020304" pitchFamily="18" charset="0"/>
                <a:cs typeface="Times New Roman" panose="02020603050405020304" pitchFamily="18" charset="0"/>
              </a:rPr>
              <a:t> of Student Trajectories using RNN (2022)</a:t>
            </a:r>
          </a:p>
          <a:p>
            <a:r>
              <a:rPr lang="en-IN" sz="1600" dirty="0">
                <a:latin typeface="Times New Roman" panose="02020603050405020304" pitchFamily="18" charset="0"/>
                <a:cs typeface="Times New Roman" panose="02020603050405020304" pitchFamily="18" charset="0"/>
              </a:rPr>
              <a:t>[9] Vaswani et al., Attention Is All You Need (2017)</a:t>
            </a:r>
          </a:p>
          <a:p>
            <a:r>
              <a:rPr lang="en-IN" sz="1600" dirty="0">
                <a:latin typeface="Times New Roman" panose="02020603050405020304" pitchFamily="18" charset="0"/>
                <a:cs typeface="Times New Roman" panose="02020603050405020304" pitchFamily="18" charset="0"/>
              </a:rPr>
              <a:t>[10] Hochreiter &amp; </a:t>
            </a:r>
            <a:r>
              <a:rPr lang="en-IN" sz="1600" dirty="0" err="1">
                <a:latin typeface="Times New Roman" panose="02020603050405020304" pitchFamily="18" charset="0"/>
                <a:cs typeface="Times New Roman" panose="02020603050405020304" pitchFamily="18" charset="0"/>
              </a:rPr>
              <a:t>Schmidhuber</a:t>
            </a:r>
            <a:r>
              <a:rPr lang="en-IN" sz="1600" dirty="0">
                <a:latin typeface="Times New Roman" panose="02020603050405020304" pitchFamily="18" charset="0"/>
                <a:cs typeface="Times New Roman" panose="02020603050405020304" pitchFamily="18" charset="0"/>
              </a:rPr>
              <a:t>, Long Short-Term Memory (1997)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BCF12-180D-6E20-3518-EE045F00D905}"/>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1A712FA6-159D-62CC-1BD9-E3A2C0EA9CDA}"/>
              </a:ext>
            </a:extLst>
          </p:cNvPr>
          <p:cNvSpPr>
            <a:spLocks noGrp="1"/>
          </p:cNvSpPr>
          <p:nvPr>
            <p:ph type="body" idx="1"/>
          </p:nvPr>
        </p:nvSpPr>
        <p:spPr/>
        <p:txBody>
          <a:bodyPr>
            <a:normAutofit/>
          </a:bodyPr>
          <a:lstStyle/>
          <a:p>
            <a:r>
              <a:rPr lang="en-IN" sz="1600" dirty="0">
                <a:latin typeface="Times New Roman" panose="02020603050405020304" pitchFamily="18" charset="0"/>
                <a:cs typeface="Times New Roman" panose="02020603050405020304" pitchFamily="18" charset="0"/>
              </a:rPr>
              <a:t>[11] Chen &amp; Davis, Multi-Label Classification of Student </a:t>
            </a:r>
            <a:r>
              <a:rPr lang="en-IN" sz="1600" dirty="0" err="1">
                <a:latin typeface="Times New Roman" panose="02020603050405020304" pitchFamily="18" charset="0"/>
                <a:cs typeface="Times New Roman" panose="02020603050405020304" pitchFamily="18" charset="0"/>
              </a:rPr>
              <a:t>Behavioral</a:t>
            </a:r>
            <a:r>
              <a:rPr lang="en-IN" sz="1600" dirty="0">
                <a:latin typeface="Times New Roman" panose="02020603050405020304" pitchFamily="18" charset="0"/>
                <a:cs typeface="Times New Roman" panose="02020603050405020304" pitchFamily="18" charset="0"/>
              </a:rPr>
              <a:t> Metrics (2020)</a:t>
            </a:r>
          </a:p>
          <a:p>
            <a:r>
              <a:rPr lang="en-IN" sz="1600" dirty="0">
                <a:latin typeface="Times New Roman" panose="02020603050405020304" pitchFamily="18" charset="0"/>
                <a:cs typeface="Times New Roman" panose="02020603050405020304" pitchFamily="18" charset="0"/>
              </a:rPr>
              <a:t>[12] </a:t>
            </a:r>
            <a:r>
              <a:rPr lang="en-IN" sz="1600" dirty="0" err="1">
                <a:latin typeface="Times New Roman" panose="02020603050405020304" pitchFamily="18" charset="0"/>
                <a:cs typeface="Times New Roman" panose="02020603050405020304" pitchFamily="18" charset="0"/>
              </a:rPr>
              <a:t>Dragoni</a:t>
            </a:r>
            <a:r>
              <a:rPr lang="en-IN" sz="1600" dirty="0">
                <a:latin typeface="Times New Roman" panose="02020603050405020304" pitchFamily="18" charset="0"/>
                <a:cs typeface="Times New Roman" panose="02020603050405020304" pitchFamily="18" charset="0"/>
              </a:rPr>
              <a:t> et al., Microservices: How To Make Your Application Scale (2017)</a:t>
            </a:r>
          </a:p>
          <a:p>
            <a:r>
              <a:rPr lang="en-IN" sz="1600" dirty="0">
                <a:latin typeface="Times New Roman" panose="02020603050405020304" pitchFamily="18" charset="0"/>
                <a:cs typeface="Times New Roman" panose="02020603050405020304" pitchFamily="18" charset="0"/>
              </a:rPr>
              <a:t>[13] Fowler &amp; Lewis, Microservices: A Definition of This New Architectural Term (2014)</a:t>
            </a:r>
          </a:p>
          <a:p>
            <a:r>
              <a:rPr lang="en-IN" sz="1600" dirty="0">
                <a:latin typeface="Times New Roman" panose="02020603050405020304" pitchFamily="18" charset="0"/>
                <a:cs typeface="Times New Roman" panose="02020603050405020304" pitchFamily="18" charset="0"/>
              </a:rPr>
              <a:t>[14] Gamma et al., Design Patterns (1994)</a:t>
            </a:r>
          </a:p>
          <a:p>
            <a:r>
              <a:rPr lang="en-IN" sz="1600" dirty="0">
                <a:latin typeface="Times New Roman" panose="02020603050405020304" pitchFamily="18" charset="0"/>
                <a:cs typeface="Times New Roman" panose="02020603050405020304" pitchFamily="18" charset="0"/>
              </a:rPr>
              <a:t>[15] Fielding &amp; Taylor, Architectural Styles and the Design of Network-Based Software Architectures (2002)</a:t>
            </a:r>
          </a:p>
          <a:p>
            <a:r>
              <a:rPr lang="en-IN" sz="1600" dirty="0">
                <a:latin typeface="Times New Roman" panose="02020603050405020304" pitchFamily="18" charset="0"/>
                <a:cs typeface="Times New Roman" panose="02020603050405020304" pitchFamily="18" charset="0"/>
              </a:rPr>
              <a:t>[16] Dubey &amp; Sharma, Security and Privacy in Web Scraping (2017)</a:t>
            </a:r>
          </a:p>
          <a:p>
            <a:r>
              <a:rPr lang="en-IN" sz="1600" dirty="0">
                <a:latin typeface="Times New Roman" panose="02020603050405020304" pitchFamily="18" charset="0"/>
                <a:cs typeface="Times New Roman" panose="02020603050405020304" pitchFamily="18" charset="0"/>
              </a:rPr>
              <a:t>[17] Crockford, The Application/JSON Media Type for JavaScript Object Notation (2006)</a:t>
            </a:r>
          </a:p>
          <a:p>
            <a:r>
              <a:rPr lang="en-IN" sz="1600" dirty="0">
                <a:latin typeface="Times New Roman" panose="02020603050405020304" pitchFamily="18" charset="0"/>
                <a:cs typeface="Times New Roman" panose="02020603050405020304" pitchFamily="18" charset="0"/>
              </a:rPr>
              <a:t>[18] Kim &amp; Smith, Performance Evaluation of RESTful Web Services in Microservice Architecture (2021)</a:t>
            </a:r>
          </a:p>
          <a:p>
            <a:r>
              <a:rPr lang="en-IN" sz="1600" dirty="0">
                <a:latin typeface="Times New Roman" panose="02020603050405020304" pitchFamily="18" charset="0"/>
                <a:cs typeface="Times New Roman" panose="02020603050405020304" pitchFamily="18" charset="0"/>
              </a:rPr>
              <a:t>[19] Zheng et al., Application of Large Language Models in Academic Feedback Generation (2023)</a:t>
            </a:r>
          </a:p>
          <a:p>
            <a:r>
              <a:rPr lang="en-IN" sz="1600" dirty="0">
                <a:latin typeface="Times New Roman" panose="02020603050405020304" pitchFamily="18" charset="0"/>
                <a:cs typeface="Times New Roman" panose="02020603050405020304" pitchFamily="18" charset="0"/>
              </a:rPr>
              <a:t>[20] Garcia-Molina et al., Database Systems: The Complete Book (2008)</a:t>
            </a:r>
          </a:p>
          <a:p>
            <a:endParaRPr lang="en-IN" dirty="0"/>
          </a:p>
          <a:p>
            <a:endParaRPr lang="en-IN" dirty="0"/>
          </a:p>
        </p:txBody>
      </p:sp>
      <p:sp>
        <p:nvSpPr>
          <p:cNvPr id="4" name="Footer Placeholder 3">
            <a:extLst>
              <a:ext uri="{FF2B5EF4-FFF2-40B4-BE49-F238E27FC236}">
                <a16:creationId xmlns:a16="http://schemas.microsoft.com/office/drawing/2014/main" id="{9CF076CC-3BCA-CF76-0BE7-E11212EEF4FC}"/>
              </a:ext>
            </a:extLst>
          </p:cNvPr>
          <p:cNvSpPr>
            <a:spLocks noGrp="1"/>
          </p:cNvSpPr>
          <p:nvPr>
            <p:ph type="ftr" idx="11"/>
          </p:nvPr>
        </p:nvSpPr>
        <p:spPr/>
        <p:txBody>
          <a:bodyPr/>
          <a:lstStyle/>
          <a:p>
            <a:r>
              <a:rPr lang="en-IN"/>
              <a:t>Mini Project (ISP67)</a:t>
            </a:r>
          </a:p>
        </p:txBody>
      </p:sp>
      <p:sp>
        <p:nvSpPr>
          <p:cNvPr id="5" name="Slide Number Placeholder 4">
            <a:extLst>
              <a:ext uri="{FF2B5EF4-FFF2-40B4-BE49-F238E27FC236}">
                <a16:creationId xmlns:a16="http://schemas.microsoft.com/office/drawing/2014/main" id="{B8841D55-6122-A759-E96E-4A7BB220644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541018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0"/>
          <p:cNvSpPr txBox="1">
            <a:spLocks noGrp="1"/>
          </p:cNvSpPr>
          <p:nvPr>
            <p:ph type="title"/>
          </p:nvPr>
        </p:nvSpPr>
        <p:spPr>
          <a:xfrm>
            <a:off x="1066800" y="247275"/>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Calibri"/>
              <a:buNone/>
            </a:pPr>
            <a:r>
              <a:rPr lang="en-US" sz="6600" dirty="0">
                <a:latin typeface="Times New Roman" panose="02020603050405020304" pitchFamily="18" charset="0"/>
                <a:cs typeface="Times New Roman" panose="02020603050405020304" pitchFamily="18" charset="0"/>
              </a:rPr>
              <a:t>Thank You</a:t>
            </a:r>
            <a:endParaRPr sz="6600" dirty="0">
              <a:latin typeface="Times New Roman" panose="02020603050405020304" pitchFamily="18" charset="0"/>
              <a:cs typeface="Times New Roman" panose="02020603050405020304" pitchFamily="18" charset="0"/>
            </a:endParaRPr>
          </a:p>
        </p:txBody>
      </p:sp>
      <p:sp>
        <p:nvSpPr>
          <p:cNvPr id="2" name="Footer Placeholder 1"/>
          <p:cNvSpPr>
            <a:spLocks noGrp="1"/>
          </p:cNvSpPr>
          <p:nvPr>
            <p:ph type="ftr" idx="11"/>
          </p:nvPr>
        </p:nvSpPr>
        <p:spPr/>
        <p:txBody>
          <a:bodyPr/>
          <a:lstStyle/>
          <a:p>
            <a:r>
              <a:rPr lang="en-IN"/>
              <a:t>Mini Project (ISP67)</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2143052-1366-42fc-b9a9-b4c6388434d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59A07F4647A4F4F8FBB61029E40D185" ma:contentTypeVersion="12" ma:contentTypeDescription="Create a new document." ma:contentTypeScope="" ma:versionID="5fb45c0315aea1d07df8d6d120034281">
  <xsd:schema xmlns:xsd="http://www.w3.org/2001/XMLSchema" xmlns:xs="http://www.w3.org/2001/XMLSchema" xmlns:p="http://schemas.microsoft.com/office/2006/metadata/properties" xmlns:ns3="02143052-1366-42fc-b9a9-b4c6388434d6" targetNamespace="http://schemas.microsoft.com/office/2006/metadata/properties" ma:root="true" ma:fieldsID="554dfde4378ced229f401909f95d3294" ns3:_="">
    <xsd:import namespace="02143052-1366-42fc-b9a9-b4c6388434d6"/>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AutoTags" minOccurs="0"/>
                <xsd:element ref="ns3:MediaLengthInSeconds" minOccurs="0"/>
                <xsd:element ref="ns3:MediaServiceDateTaken" minOccurs="0"/>
                <xsd:element ref="ns3:MediaServiceGenerationTime" minOccurs="0"/>
                <xsd:element ref="ns3:MediaServiceEventHashCode" minOccurs="0"/>
                <xsd:element ref="ns3:MediaServiceOCR" minOccurs="0"/>
                <xsd:element ref="ns3:_activity"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143052-1366-42fc-b9a9-b4c6388434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_activity" ma:index="17" nillable="true" ma:displayName="_activity" ma:hidden="true" ma:internalName="_activity">
      <xsd:simpleType>
        <xsd:restriction base="dms:Note"/>
      </xsd:simpleType>
    </xsd:element>
    <xsd:element name="MediaServiceSystemTags" ma:index="18" nillable="true" ma:displayName="MediaServiceSystemTags" ma:hidden="true" ma:internalName="MediaServiceSystemTags" ma:readOnly="true">
      <xsd:simpleType>
        <xsd:restriction base="dms:Note"/>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F94D35-F914-43BA-A78B-FA4021D322B8}">
  <ds:schemaRefs>
    <ds:schemaRef ds:uri="http://schemas.openxmlformats.org/package/2006/metadata/core-properties"/>
    <ds:schemaRef ds:uri="02143052-1366-42fc-b9a9-b4c6388434d6"/>
    <ds:schemaRef ds:uri="http://purl.org/dc/elements/1.1/"/>
    <ds:schemaRef ds:uri="http://www.w3.org/XML/1998/namespace"/>
    <ds:schemaRef ds:uri="http://purl.org/dc/terms/"/>
    <ds:schemaRef ds:uri="http://schemas.microsoft.com/office/2006/documentManagement/types"/>
    <ds:schemaRef ds:uri="http://schemas.microsoft.com/office/infopath/2007/PartnerControl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94084280-EF6B-48CC-9B54-2AC6C5971648}">
  <ds:schemaRefs>
    <ds:schemaRef ds:uri="http://schemas.microsoft.com/sharepoint/v3/contenttype/forms"/>
  </ds:schemaRefs>
</ds:datastoreItem>
</file>

<file path=customXml/itemProps3.xml><?xml version="1.0" encoding="utf-8"?>
<ds:datastoreItem xmlns:ds="http://schemas.openxmlformats.org/officeDocument/2006/customXml" ds:itemID="{0C55C2F3-B8EF-4E88-8ED2-A97F4A97F133}">
  <ds:schemaRefs>
    <ds:schemaRef ds:uri="02143052-1366-42fc-b9a9-b4c6388434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136</TotalTime>
  <Words>1419</Words>
  <Application>Microsoft Office PowerPoint</Application>
  <PresentationFormat>Widescreen</PresentationFormat>
  <Paragraphs>253</Paragraphs>
  <Slides>16</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Retrospect</vt:lpstr>
      <vt:lpstr> MSR INSIGHT – ACADEMIC PLATFORM</vt:lpstr>
      <vt:lpstr>Introduction</vt:lpstr>
      <vt:lpstr>Motivation and Scope</vt:lpstr>
      <vt:lpstr>Challenges and Issues</vt:lpstr>
      <vt:lpstr>Problem Statement</vt:lpstr>
      <vt:lpstr>Objective</vt:lpstr>
      <vt:lpstr>PowerPoint Presentation</vt:lpstr>
      <vt:lpstr>PowerPoint Presentation</vt:lpstr>
      <vt:lpstr>PowerPoint Presentation</vt:lpstr>
      <vt:lpstr>PowerPoint Presentation</vt:lpstr>
      <vt:lpstr>Methodology</vt:lpstr>
      <vt:lpstr>Results and Discussion</vt:lpstr>
      <vt:lpstr>Conclusion</vt:lpstr>
      <vt:lpstr>REFERENCES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Karthik X1</cp:lastModifiedBy>
  <cp:revision>6</cp:revision>
  <cp:lastPrinted>2026-03-05T07:57:30Z</cp:lastPrinted>
  <dcterms:created xsi:type="dcterms:W3CDTF">2020-02-04T09:15:24Z</dcterms:created>
  <dcterms:modified xsi:type="dcterms:W3CDTF">2026-06-10T03:54:58Z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0x010100D59A07F4647A4F4F8FBB61029E40D185</vt:lpwstr>
  </property>
  <property fmtid="{D5CDD505-2E9C-101B-9397-08002B2CF9AE}" pid="3" name="MSIP_Label_defa4170-0d19-0005-0004-bc88714345d2_Enabled">
    <vt:lpwstr>true</vt:lpwstr>
  </property>
  <property fmtid="{D5CDD505-2E9C-101B-9397-08002B2CF9AE}" pid="4" name="MSIP_Label_defa4170-0d19-0005-0004-bc88714345d2_SetDate">
    <vt:lpwstr>2026-03-04T23:51:57Z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6a6b8e1b-2f70-44c6-9802-e9ca40b64a8a</vt:lpwstr>
  </property>
  <property fmtid="{D5CDD505-2E9C-101B-9397-08002B2CF9AE}" pid="8" name="MSIP_Label_defa4170-0d19-0005-0004-bc88714345d2_ActionId">
    <vt:lpwstr>712a0ba4-d5ac-40aa-98a0-306883cb2356</vt:lpwstr>
  </property>
  <property fmtid="{D5CDD505-2E9C-101B-9397-08002B2CF9AE}" pid="9" name="MSIP_Label_defa4170-0d19-0005-0004-bc88714345d2_ContentBits">
    <vt:lpwstr>0</vt:lpwstr>
  </property>
  <property fmtid="{D5CDD505-2E9C-101B-9397-08002B2CF9AE}" pid="10" name="MSIP_Label_defa4170-0d19-0005-0004-bc88714345d2_Tag">
    <vt:lpwstr>10, 3, 0, 1</vt:lpwstr>
  </property>
</Properties>
</file>